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2fa91cb-aba4-3b69-2d87-f48c032d7892}">
          <p14:sldIdLst>
            <p14:sldId id="256"/>
            <p14:sldId id="257"/>
            <p14:sldId id="258"/>
          </p14:sldIdLst>
        </p14:section>
        <p14:section name="Data" id="{718d03df-50bc-376f-0066-21be80dc3be3}">
          <p14:sldIdLst>
            <p14:sldId id="259"/>
            <p14:sldId id="260"/>
            <p14:sldId id="261"/>
          </p14:sldIdLst>
        </p14:section>
        <p14:section name="Preparation" id="{b061cbcc-288f-0d05-1460-ed69701e11df}">
          <p14:sldIdLst>
            <p14:sldId id="262"/>
          </p14:sldIdLst>
        </p14:section>
        <p14:section name="Analysis" id="{8ea6e867-d362-2342-d808-d3cd8749c7c6}">
          <p14:sldIdLst>
            <p14:sldId id="263"/>
            <p14:sldId id="264"/>
            <p14:sldId id="265"/>
            <p14:sldId id="266"/>
            <p14:sldId id="267"/>
            <p14:sldId id="268"/>
            <p14:sldId id="269"/>
            <p14:sldId id="270"/>
            <p14:sldId id="271"/>
          </p14:sldIdLst>
        </p14:section>
        <p14:section name="Modelling" id="{73ec4ca4-6ff3-5969-db9f-ba0269e3c38b}">
          <p14:sldIdLst>
            <p14:sldId id="272"/>
            <p14:sldId id="273"/>
            <p14:sldId id="274"/>
            <p14:sldId id="275"/>
            <p14:sldId id="276"/>
            <p14:sldId id="277"/>
            <p14:sldId id="278"/>
          </p14:sldIdLst>
        </p14:section>
        <p14:section name="Conclusion" id="{5491d67f-1b36-8400-5eb4-2cf3fd127d05}">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1C7C8C"/>
              </a:solidFill>
              <a:effectLst/>
            </c:spPr>
          </c:dPt>
          <c:dPt>
            <c:idx val="1"/>
            <c:bubble3D val="0"/>
            <c:spPr>
              <a:solidFill>
                <a:srgbClr val="F26B5B"/>
              </a:solidFill>
              <a:effectLst/>
            </c:spPr>
          </c:dPt>
          <c:dLbls>
            <c:dLbl>
              <c:idx val="0"/>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Retained</c:v>
                </c:pt>
                <c:pt idx="1">
                  <c:v>Churned</c:v>
                </c:pt>
              </c:strCache>
            </c:strRef>
          </c:cat>
          <c:val>
            <c:numRef>
              <c:f>Sheet1!$B$2:$B$3</c:f>
              <c:numCache>
                <c:ptCount val="2"/>
                <c:pt idx="0">
                  <c:v>5163</c:v>
                </c:pt>
                <c:pt idx="1">
                  <c:v>1869</c:v>
                </c:pt>
              </c:numCache>
            </c:numRef>
          </c:val>
        </c:ser>
        <c:firstSliceAng val="0"/>
        <c:holeSize val="60"/>
      </c:doughnutChart>
      <c:spPr>
        <a:noFill/>
        <a:ln>
          <a:noFill/>
        </a:ln>
        <a:effectLst/>
      </c:spPr>
    </c:plotArea>
    <c:legend>
      <c:legendPos val="r"/>
      <c:overlay val="0"/>
      <c:txPr>
        <a:bodyPr/>
        <a:lstStyle/>
        <a:p>
          <a:pPr>
            <a:defRPr sz="1300">
              <a:solidFill>
                <a:srgbClr val="142B4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B40"/>
                </a:solidFill>
                <a:latin typeface="+mn-lt"/>
              </a:defRPr>
            </a:pPr>
            <a:r>
              <a:rPr sz="1300" b="0" i="0" u="none" strike="noStrike">
                <a:solidFill>
                  <a:srgbClr val="142B40"/>
                </a:solidFill>
                <a:latin typeface="+mn-lt"/>
              </a:rPr>
              <a:t>Churn rate by contract type</a:t>
            </a:r>
          </a:p>
        </c:rich>
      </c:tx>
      <c:layout/>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F26B5B"/>
            </a:solidFill>
            <a:effectLst/>
          </c:spPr>
          <c:invertIfNegative val="0"/>
          <c:dLbls>
            <c:numFmt formatCode="0.0&quot;%&quot;"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42.71</c:v>
                </c:pt>
                <c:pt idx="1">
                  <c:v>11.28</c:v>
                </c:pt>
                <c:pt idx="2">
                  <c:v>2.85</c:v>
                </c:pt>
              </c:numCache>
            </c:numRef>
          </c:val>
        </c:ser>
        <c:dLbls>
          <c:numFmt formatCode="0.0&quot;%&quot;"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B40"/>
                </a:solidFill>
                <a:latin typeface="+mn-lt"/>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6350" cap="flat">
              <a:solidFill>
                <a:srgbClr val="D5DEE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B40"/>
                </a:solidFill>
                <a:latin typeface="+mn-lt"/>
              </a:defRPr>
            </a:pPr>
            <a:r>
              <a:rPr sz="1200" b="0" i="0" u="none" strike="noStrike">
                <a:solidFill>
                  <a:srgbClr val="142B40"/>
                </a:solidFill>
                <a:latin typeface="+mn-lt"/>
              </a:rPr>
              <a:t>Average tenure (months)</a:t>
            </a:r>
          </a:p>
        </c:rich>
      </c:tx>
      <c:layout/>
      <c:overlay val="0"/>
    </c:title>
    <c:autoTitleDeleted val="0"/>
    <c:plotArea>
      <c:layout/>
      <c:barChart>
        <c:barDir val="col"/>
        <c:grouping val="clustered"/>
        <c:varyColors val="0"/>
        <c:ser>
          <c:idx val="0"/>
          <c:order val="0"/>
          <c:tx>
            <c:strRef>
              <c:f>Sheet1!$B$1</c:f>
              <c:strCache>
                <c:ptCount val="1"/>
                <c:pt idx="0">
                  <c:v>Average tenure (months)</c:v>
                </c:pt>
              </c:strCache>
            </c:strRef>
          </c:tx>
          <c:spPr>
            <a:solidFill>
              <a:srgbClr val="1C7C8C"/>
            </a:solidFill>
            <a:effectLst/>
          </c:spPr>
          <c:invertIfNegative val="0"/>
          <c:dLbls>
            <c:numFmt formatCode="0.0"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dPt>
            <c:idx val="0"/>
            <c:invertIfNegative val="0"/>
            <c:bubble3D val="0"/>
            <c:spPr>
              <a:solidFill>
                <a:srgbClr val="1C7C8C"/>
              </a:solidFill>
              <a:effectLst/>
            </c:spPr>
          </c:dPt>
          <c:dPt>
            <c:idx val="1"/>
            <c:invertIfNegative val="0"/>
            <c:bubble3D val="0"/>
            <c:spPr>
              <a:solidFill>
                <a:srgbClr val="F26B5B"/>
              </a:solidFill>
              <a:effectLst/>
            </c:spPr>
          </c:dPt>
          <c:cat>
            <c:multiLvlStrRef>
              <c:f>Sheet1!$A$2:$A$3</c:f>
              <c:multiLvlStrCache>
                <c:ptCount val="2"/>
                <c:lvl>
                  <c:pt idx="0">
                    <c:v>Retained</c:v>
                  </c:pt>
                  <c:pt idx="1">
                    <c:v>Churned</c:v>
                  </c:pt>
                </c:lvl>
              </c:multiLvlStrCache>
            </c:multiLvlStrRef>
          </c:cat>
          <c:val>
            <c:numRef>
              <c:f>Sheet1!$B$2:$B$3</c:f>
              <c:numCache>
                <c:formatCode>General</c:formatCode>
                <c:ptCount val="2"/>
                <c:pt idx="0">
                  <c:v>37.65</c:v>
                </c:pt>
                <c:pt idx="1">
                  <c:v>17.98</c:v>
                </c:pt>
              </c:numCache>
            </c:numRef>
          </c:val>
        </c:ser>
        <c:dLbls>
          <c:numFmt formatCode="0.0"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B40"/>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D5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B40"/>
                </a:solidFill>
                <a:latin typeface="+mn-lt"/>
              </a:defRPr>
            </a:pPr>
            <a:r>
              <a:rPr sz="1200" b="0" i="0" u="none" strike="noStrike">
                <a:solidFill>
                  <a:srgbClr val="142B40"/>
                </a:solidFill>
                <a:latin typeface="+mn-lt"/>
              </a:rPr>
              <a:t>Average monthly charges</a:t>
            </a:r>
          </a:p>
        </c:rich>
      </c:tx>
      <c:layout/>
      <c:overlay val="0"/>
    </c:title>
    <c:autoTitleDeleted val="0"/>
    <c:plotArea>
      <c:layout/>
      <c:barChart>
        <c:barDir val="col"/>
        <c:grouping val="clustered"/>
        <c:varyColors val="0"/>
        <c:ser>
          <c:idx val="0"/>
          <c:order val="0"/>
          <c:tx>
            <c:strRef>
              <c:f>Sheet1!$B$1</c:f>
              <c:strCache>
                <c:ptCount val="1"/>
                <c:pt idx="0">
                  <c:v>Average monthly charges</c:v>
                </c:pt>
              </c:strCache>
            </c:strRef>
          </c:tx>
          <c:spPr>
            <a:solidFill>
              <a:srgbClr val="1C7C8C"/>
            </a:solidFill>
            <a:effectLst/>
          </c:spPr>
          <c:invertIfNegative val="0"/>
          <c:dLbls>
            <c:numFmt formatCode="0.00"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dPt>
            <c:idx val="0"/>
            <c:invertIfNegative val="0"/>
            <c:bubble3D val="0"/>
            <c:spPr>
              <a:solidFill>
                <a:srgbClr val="1C7C8C"/>
              </a:solidFill>
              <a:effectLst/>
            </c:spPr>
          </c:dPt>
          <c:dPt>
            <c:idx val="1"/>
            <c:invertIfNegative val="0"/>
            <c:bubble3D val="0"/>
            <c:spPr>
              <a:solidFill>
                <a:srgbClr val="F26B5B"/>
              </a:solidFill>
              <a:effectLst/>
            </c:spPr>
          </c:dPt>
          <c:cat>
            <c:multiLvlStrRef>
              <c:f>Sheet1!$A$2:$A$3</c:f>
              <c:multiLvlStrCache>
                <c:ptCount val="2"/>
                <c:lvl>
                  <c:pt idx="0">
                    <c:v>Retained</c:v>
                  </c:pt>
                  <c:pt idx="1">
                    <c:v>Churned</c:v>
                  </c:pt>
                </c:lvl>
              </c:multiLvlStrCache>
            </c:multiLvlStrRef>
          </c:cat>
          <c:val>
            <c:numRef>
              <c:f>Sheet1!$B$2:$B$3</c:f>
              <c:numCache>
                <c:formatCode>General</c:formatCode>
                <c:ptCount val="2"/>
                <c:pt idx="0">
                  <c:v>61.31</c:v>
                </c:pt>
                <c:pt idx="1">
                  <c:v>74.44</c:v>
                </c:pt>
              </c:numCache>
            </c:numRef>
          </c:val>
        </c:ser>
        <c:dLbls>
          <c:numFmt formatCode="0.00"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B4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D5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C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B40"/>
                </a:solidFill>
                <a:latin typeface="+mn-lt"/>
              </a:defRPr>
            </a:pPr>
            <a:r>
              <a:rPr sz="1200" b="0" i="0" u="none" strike="noStrike">
                <a:solidFill>
                  <a:srgbClr val="142B40"/>
                </a:solidFill>
                <a:latin typeface="+mn-lt"/>
              </a:rPr>
              <a:t>Churn rate by segment (month-to-month customers)</a:t>
            </a:r>
          </a:p>
        </c:rich>
      </c:tx>
      <c:layout/>
      <c:overlay val="0"/>
    </c:title>
    <c:autoTitleDeleted val="0"/>
    <c:plotArea>
      <c:layout/>
      <c:barChart>
        <c:barDir val="bar"/>
        <c:grouping val="clustered"/>
        <c:varyColors val="0"/>
        <c:ser>
          <c:idx val="0"/>
          <c:order val="0"/>
          <c:tx>
            <c:strRef>
              <c:f>Sheet1!$B$1</c:f>
              <c:strCache>
                <c:ptCount val="1"/>
                <c:pt idx="0">
                  <c:v>Churn rate (%)</c:v>
                </c:pt>
              </c:strCache>
            </c:strRef>
          </c:tx>
          <c:spPr>
            <a:solidFill>
              <a:srgbClr val="F26B5B"/>
            </a:solidFill>
            <a:effectLst/>
          </c:spPr>
          <c:invertIfNegative val="0"/>
          <c:dLbls>
            <c:numFmt formatCode="0.0&quot;%&quot;"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cat>
            <c:multiLvlStrRef>
              <c:f>Sheet1!$A$2:$A$6</c:f>
              <c:multiLvlStrCache>
                <c:ptCount val="5"/>
                <c:lvl>
                  <c:pt idx="0">
                    <c:v>DSL, total charges &gt; 310</c:v>
                  </c:pt>
                  <c:pt idx="1">
                    <c:v>No internet service</c:v>
                  </c:pt>
                  <c:pt idx="2">
                    <c:v>Fiber, tenure &gt; 14.5 mo</c:v>
                  </c:pt>
                  <c:pt idx="3">
                    <c:v>DSL, total charges ≤ 310</c:v>
                  </c:pt>
                  <c:pt idx="4">
                    <c:v>Fiber, tenure ≤ 14.5 mo</c:v>
                  </c:pt>
                </c:lvl>
              </c:multiLvlStrCache>
            </c:multiLvlStrRef>
          </c:cat>
          <c:val>
            <c:numRef>
              <c:f>Sheet1!$B$2:$B$6</c:f>
              <c:numCache>
                <c:formatCode>General</c:formatCode>
                <c:ptCount val="5"/>
                <c:pt idx="0">
                  <c:v>18.3</c:v>
                </c:pt>
                <c:pt idx="1">
                  <c:v>19</c:v>
                </c:pt>
                <c:pt idx="2">
                  <c:v>40.5</c:v>
                </c:pt>
                <c:pt idx="3">
                  <c:v>52</c:v>
                </c:pt>
                <c:pt idx="4">
                  <c:v>71.4</c:v>
                </c:pt>
              </c:numCache>
            </c:numRef>
          </c:val>
        </c:ser>
        <c:dLbls>
          <c:numFmt formatCode="0.0&quot;%&quot;" sourceLinked="0"/>
          <c:txPr>
            <a:bodyPr/>
            <a:lstStyle/>
            <a:p>
              <a:pPr>
                <a:defRPr b="0" i="0" strike="noStrike" sz="1200" u="none">
                  <a:solidFill>
                    <a:srgbClr val="142B4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2B40"/>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C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Ye project Telco company ke customers ke churn, yaani company chhod ke jaane, ko predict karta hai, aur batata hai ki use kaise roka jaye. Poora analysis IBM SPSS Modeler mein kiya gaya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CRISP-DM ke 6 phases: business understanding se lekar deployment tak. Humne har phase ke liye alag slide banayi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matlab customer ka service chhod dena. Naya customer lana mehnga padta hai, isliye retention important hai. Humare 4 objectives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7043 customers ka hai. Fields 4 groups mein hain: demographics, services, account details aur target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humari poori stream ka overview hai. Upar wali line mein data prepare hota hai: source, select, type, partition, phir models. Neeche wali nodes Type node se judi hain aur statistical analysis karti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humari actual SPSS Modeler stream ka screenshot hai. Upar data prepare hota hai, neeche tests aur models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Pehle Select node se 11 blank TotalCharges rows hata di, ab 7032 records bache. Type node mein Churn ko target set kiya aur customerID ko none. Partition mein 70-30 split kiya: 4901 training aur 2131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Audit se pata chala ki saari fields mein 7032 valid values hain, yani koi missing nahi. Tenure U-shape mein hai, TotalCharges right-skewed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Audit ka output. Har field mein 7032 valid values hain, yaani missing nahi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node se overall churn nikla: 26.58 percent, matlab 1869 customers gaye. Data imbalanced hai, isliye baad mein sirf accuracy par bharosa nahi kar sakte.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node ka output: No 73.42 percent, Yes 26.58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Chi-square test se check kiya ki contract aur churn ka relation hai ya nahi. Value 1179.55, p almost zero, isliye null hypothesis reject. Cramer's V maine formula se nikala hai: root of chi-square divided by n, approx 0.41.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table se samajh aata hai: month-to-month wale customers expected se 625 zyada gaye, aur two year wale 400 kam. Month-to-month ka churn two-year se lagbhag 15 guna zyada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mein distribution of contract overlay ke saath. Beech aur right mein Matrix node ka output, jisme neeche chi-square 1179.546, df 2, probability 0 likha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Means node churned aur retained customers ke average compare karta hai. Churners ka average tenure 18 month hai jabki retained ka 38. Monthly charges churners ke zyada hain, 74 vs 61. Dono difference significant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Means node ka output: tenure aur MonthlyCharges ke averages, aur importance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models lagaye jo Partition node se judte hain. Logistic regression probability batata hai. C5.0 decision tree rules banata hai. Dono mein Churn target aur customerID none role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mein rows actual hain aur columns prediction. Testing data mein 590 asli churners the. Logistic ne 329 pakde aur C5.0 ne 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mein Logistic ka Analysis output aur right mein C5.0 ka. Dono mein training aur testing accuracy aur coincidence matrix dikhta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 models lagbhag barabar hain. Logistic ka testing accuracy 78.79 hai, C5.0 ka 78.09. Humne Logistic choose kiya. Dhyan rahe: sabko No bol dein toh bhi 73 percent accuracy aati hai, isliye recall bhi dekhna zaroori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mein pehle contract par split hota hai, phir month-to-month wale customers internet service par. Sabse risky group: fiber optic customers jinka tenure 14.5 mahine se kam hai, unme 71 percent churn karte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ka upar wala hissa: internet service, phir fiber mein tenure aur DSL mein total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ke neeche ki branches: online security, tech support, paperless billing aur tenure.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finding ke saamne ek action hai. Aur model ko har mahine chala ke high risk customers ki list banakar unhe pehle contact kar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contract, tenure aur charges churn ke bade factors hain. Limitation: model sirf 56 percent churners pakadta hai. Future mein class balancing aur threshold tuning se improve kar sakte hain.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097280"/>
            <a:ext cx="5120640" cy="21031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4" name="Text 1"/>
          <p:cNvSpPr/>
          <p:nvPr>
            <p:ph idx="102" type="body" hasCustomPrompt="1"/>
          </p:nvPr>
        </p:nvSpPr>
        <p:spPr>
          <a:xfrm>
            <a:off x="640080" y="3383280"/>
            <a:ext cx="5120640" cy="12801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74320"/>
            <a:ext cx="8229600" cy="77724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097280"/>
            <a:ext cx="5120640" cy="2103120"/>
          </a:xfrm>
          <a:prstGeom prst="rect">
            <a:avLst/>
          </a:prstGeom>
          <a:noFill/>
          <a:ln/>
        </p:spPr>
        <p:txBody>
          <a:bodyPr wrap="square" lIns="0" tIns="0" rIns="0" bIns="0" rtlCol="0" anchor="t"/>
          <a:lstStyle/>
          <a:p>
            <a:pPr indent="0" marL="0">
              <a:buNone/>
            </a:pPr>
            <a:r>
              <a:rPr lang="en-US" sz="3400" b="1" dirty="0">
                <a:solidFill>
                  <a:schemeClr val="bg1"/>
                </a:solidFill>
              </a:rPr>
              <a:t>Customer Churn Prediction and Retention Analysis</a:t>
            </a:r>
            <a:endParaRPr lang="en-US" sz="3400" dirty="0"/>
          </a:p>
        </p:txBody>
      </p:sp>
      <p:sp>
        <p:nvSpPr>
          <p:cNvPr id="3" name="Text 1"/>
          <p:cNvSpPr/>
          <p:nvPr>
            <p:ph idx="102" type="body" hasCustomPrompt="1"/>
          </p:nvPr>
        </p:nvSpPr>
        <p:spPr>
          <a:xfrm>
            <a:off x="640080" y="3383280"/>
            <a:ext cx="5120640" cy="128016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Telco Customer Churn dataset (Kaggle)</a:t>
            </a:r>
            <a:endParaRPr lang="en-US" sz="1600" dirty="0"/>
          </a:p>
          <a:p>
            <a:pPr indent="0" marL="0">
              <a:spcAft>
                <a:spcPts val="400"/>
              </a:spcAft>
              <a:buNone/>
            </a:pPr>
            <a:r>
              <a:rPr lang="en-US" sz="1600" dirty="0">
                <a:solidFill>
                  <a:schemeClr val="bg2"/>
                </a:solidFill>
              </a:rPr>
              <a:t>Built in IBM SPSS Modeler, step by step</a:t>
            </a:r>
            <a:endParaRPr lang="en-US" sz="1600" dirty="0"/>
          </a:p>
          <a:p>
            <a:pPr indent="0" marL="0">
              <a:spcAft>
                <a:spcPts val="400"/>
              </a:spcAft>
              <a:buNone/>
            </a:pPr>
            <a:r>
              <a:rPr lang="en-US" sz="1600" dirty="0">
                <a:solidFill>
                  <a:schemeClr val="bg2"/>
                </a:solidFill>
              </a:rPr>
              <a:t>Presented by: [Your Name]</a:t>
            </a:r>
            <a:endParaRPr lang="en-US" sz="1600" dirty="0"/>
          </a:p>
        </p:txBody>
      </p:sp>
      <p:sp>
        <p:nvSpPr>
          <p:cNvPr id="4" name="Churn circle"/>
          <p:cNvSpPr/>
          <p:nvPr/>
        </p:nvSpPr>
        <p:spPr>
          <a:xfrm>
            <a:off x="6126480" y="1005840"/>
            <a:ext cx="2560320" cy="2560320"/>
          </a:xfrm>
          <a:prstGeom prst="ellipse">
            <a:avLst/>
          </a:prstGeom>
          <a:solidFill>
            <a:schemeClr val="accent2"/>
          </a:solidFill>
          <a:ln w="12700">
            <a:solidFill>
              <a:schemeClr val="accent2"/>
            </a:solidFill>
            <a:prstDash val="solid"/>
          </a:ln>
        </p:spPr>
      </p:sp>
      <p:sp>
        <p:nvSpPr>
          <p:cNvPr id="5" name="Circle stat"/>
          <p:cNvSpPr txBox="1"/>
          <p:nvPr/>
        </p:nvSpPr>
        <p:spPr>
          <a:xfrm>
            <a:off x="6126480" y="1783080"/>
            <a:ext cx="2560320" cy="82296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1 in 4</a:t>
            </a:r>
            <a:endParaRPr lang="en-US" sz="4400" dirty="0"/>
          </a:p>
        </p:txBody>
      </p:sp>
      <p:sp>
        <p:nvSpPr>
          <p:cNvPr id="6" name="Circle label"/>
          <p:cNvSpPr txBox="1"/>
          <p:nvPr/>
        </p:nvSpPr>
        <p:spPr>
          <a:xfrm>
            <a:off x="6126480" y="2560320"/>
            <a:ext cx="2560320" cy="365760"/>
          </a:xfrm>
          <a:prstGeom prst="rect">
            <a:avLst/>
          </a:prstGeom>
          <a:noFill/>
          <a:ln/>
        </p:spPr>
        <p:txBody>
          <a:bodyPr wrap="square" lIns="0" tIns="0" rIns="0" bIns="0" rtlCol="0" anchor="t"/>
          <a:lstStyle/>
          <a:p>
            <a:pPr algn="ctr" indent="0" marL="0">
              <a:buNone/>
            </a:pPr>
            <a:r>
              <a:rPr lang="en-US" sz="1600" dirty="0">
                <a:solidFill>
                  <a:schemeClr val="bg1"/>
                </a:solidFill>
              </a:rPr>
              <a:t>customers churned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Our roadmap: the CRISP-DM method</a:t>
            </a:r>
            <a:endParaRPr lang="en-US" sz="3000" dirty="0"/>
          </a:p>
        </p:txBody>
      </p:sp>
      <p:sp>
        <p:nvSpPr>
          <p:cNvPr id="3" name="Roadmap intro"/>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600" dirty="0">
                <a:solidFill>
                  <a:schemeClr val="tx1"/>
                </a:solidFill>
              </a:rPr>
              <a:t>We followed the standard data-mining process taught in class. Each phase has its own slides.</a:t>
            </a:r>
            <a:endParaRPr lang="en-US" sz="1600" dirty="0"/>
          </a:p>
        </p:txBody>
      </p:sp>
      <p:sp>
        <p:nvSpPr>
          <p:cNvPr id="4" name="Phase card 1"/>
          <p:cNvSpPr/>
          <p:nvPr/>
        </p:nvSpPr>
        <p:spPr>
          <a:xfrm>
            <a:off x="457200" y="1691640"/>
            <a:ext cx="2560320" cy="1371600"/>
          </a:xfrm>
          <a:prstGeom prst="roundRect">
            <a:avLst>
              <a:gd name="adj" fmla="val 6667"/>
            </a:avLst>
          </a:prstGeom>
          <a:solidFill>
            <a:schemeClr val="bg2"/>
          </a:solidFill>
          <a:ln w="12700">
            <a:solidFill>
              <a:schemeClr val="bg2"/>
            </a:solidFill>
            <a:prstDash val="solid"/>
          </a:ln>
        </p:spPr>
      </p:sp>
      <p:sp>
        <p:nvSpPr>
          <p:cNvPr id="5" name="Phase badge 1"/>
          <p:cNvSpPr txBox="1"/>
          <p:nvPr/>
        </p:nvSpPr>
        <p:spPr>
          <a:xfrm>
            <a:off x="640080" y="1856232"/>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Phase title 1"/>
          <p:cNvSpPr txBox="1"/>
          <p:nvPr/>
        </p:nvSpPr>
        <p:spPr>
          <a:xfrm>
            <a:off x="1234440" y="18288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Business understanding</a:t>
            </a:r>
            <a:endParaRPr lang="en-US" sz="1400" dirty="0"/>
          </a:p>
        </p:txBody>
      </p:sp>
      <p:sp>
        <p:nvSpPr>
          <p:cNvPr id="7" name="Phase text 1"/>
          <p:cNvSpPr txBox="1"/>
          <p:nvPr/>
        </p:nvSpPr>
        <p:spPr>
          <a:xfrm>
            <a:off x="640080" y="2441448"/>
            <a:ext cx="2194560" cy="457200"/>
          </a:xfrm>
          <a:prstGeom prst="rect">
            <a:avLst/>
          </a:prstGeom>
          <a:noFill/>
          <a:ln/>
        </p:spPr>
        <p:txBody>
          <a:bodyPr wrap="square" lIns="0" tIns="0" rIns="0" bIns="0" rtlCol="0" anchor="t"/>
          <a:lstStyle/>
          <a:p>
            <a:pPr indent="0" marL="0">
              <a:buNone/>
            </a:pPr>
            <a:r>
              <a:rPr lang="en-US" sz="1200" dirty="0">
                <a:solidFill>
                  <a:schemeClr val="tx1"/>
                </a:solidFill>
              </a:rPr>
              <a:t>What is churn and what do we want to learn?</a:t>
            </a:r>
            <a:endParaRPr lang="en-US" sz="1200" dirty="0"/>
          </a:p>
        </p:txBody>
      </p:sp>
      <p:sp>
        <p:nvSpPr>
          <p:cNvPr id="8" name="Phase card 2"/>
          <p:cNvSpPr/>
          <p:nvPr/>
        </p:nvSpPr>
        <p:spPr>
          <a:xfrm>
            <a:off x="3291840" y="1691640"/>
            <a:ext cx="2560320" cy="1371600"/>
          </a:xfrm>
          <a:prstGeom prst="roundRect">
            <a:avLst>
              <a:gd name="adj" fmla="val 6667"/>
            </a:avLst>
          </a:prstGeom>
          <a:solidFill>
            <a:schemeClr val="bg2"/>
          </a:solidFill>
          <a:ln w="12700">
            <a:solidFill>
              <a:schemeClr val="bg2"/>
            </a:solidFill>
            <a:prstDash val="solid"/>
          </a:ln>
        </p:spPr>
      </p:sp>
      <p:sp>
        <p:nvSpPr>
          <p:cNvPr id="9" name="Phase badge 2"/>
          <p:cNvSpPr txBox="1"/>
          <p:nvPr/>
        </p:nvSpPr>
        <p:spPr>
          <a:xfrm>
            <a:off x="3474720" y="1856232"/>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Phase title 2"/>
          <p:cNvSpPr txBox="1"/>
          <p:nvPr/>
        </p:nvSpPr>
        <p:spPr>
          <a:xfrm>
            <a:off x="4069080" y="18288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Data understanding</a:t>
            </a:r>
            <a:endParaRPr lang="en-US" sz="1400" dirty="0"/>
          </a:p>
        </p:txBody>
      </p:sp>
      <p:sp>
        <p:nvSpPr>
          <p:cNvPr id="11" name="Phase text 2"/>
          <p:cNvSpPr txBox="1"/>
          <p:nvPr/>
        </p:nvSpPr>
        <p:spPr>
          <a:xfrm>
            <a:off x="3474720" y="2441448"/>
            <a:ext cx="2194560" cy="457200"/>
          </a:xfrm>
          <a:prstGeom prst="rect">
            <a:avLst/>
          </a:prstGeom>
          <a:noFill/>
          <a:ln/>
        </p:spPr>
        <p:txBody>
          <a:bodyPr wrap="square" lIns="0" tIns="0" rIns="0" bIns="0" rtlCol="0" anchor="t"/>
          <a:lstStyle/>
          <a:p>
            <a:pPr indent="0" marL="0">
              <a:buNone/>
            </a:pPr>
            <a:r>
              <a:rPr lang="en-US" sz="1200" dirty="0">
                <a:solidFill>
                  <a:schemeClr val="tx1"/>
                </a:solidFill>
              </a:rPr>
              <a:t>Dataset, variables, data audit, churn rate</a:t>
            </a:r>
            <a:endParaRPr lang="en-US" sz="1200" dirty="0"/>
          </a:p>
        </p:txBody>
      </p:sp>
      <p:sp>
        <p:nvSpPr>
          <p:cNvPr id="12" name="Phase card 3"/>
          <p:cNvSpPr/>
          <p:nvPr/>
        </p:nvSpPr>
        <p:spPr>
          <a:xfrm>
            <a:off x="6126480" y="1691640"/>
            <a:ext cx="2560320" cy="1371600"/>
          </a:xfrm>
          <a:prstGeom prst="roundRect">
            <a:avLst>
              <a:gd name="adj" fmla="val 6667"/>
            </a:avLst>
          </a:prstGeom>
          <a:solidFill>
            <a:schemeClr val="bg2"/>
          </a:solidFill>
          <a:ln w="12700">
            <a:solidFill>
              <a:schemeClr val="bg2"/>
            </a:solidFill>
            <a:prstDash val="solid"/>
          </a:ln>
        </p:spPr>
      </p:sp>
      <p:sp>
        <p:nvSpPr>
          <p:cNvPr id="13" name="Phase badge 3"/>
          <p:cNvSpPr txBox="1"/>
          <p:nvPr/>
        </p:nvSpPr>
        <p:spPr>
          <a:xfrm>
            <a:off x="6309360" y="1856232"/>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Phase title 3"/>
          <p:cNvSpPr txBox="1"/>
          <p:nvPr/>
        </p:nvSpPr>
        <p:spPr>
          <a:xfrm>
            <a:off x="6903720" y="182880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Data preparation</a:t>
            </a:r>
            <a:endParaRPr lang="en-US" sz="1400" dirty="0"/>
          </a:p>
        </p:txBody>
      </p:sp>
      <p:sp>
        <p:nvSpPr>
          <p:cNvPr id="15" name="Phase text 3"/>
          <p:cNvSpPr txBox="1"/>
          <p:nvPr/>
        </p:nvSpPr>
        <p:spPr>
          <a:xfrm>
            <a:off x="6309360" y="2441448"/>
            <a:ext cx="2194560" cy="457200"/>
          </a:xfrm>
          <a:prstGeom prst="rect">
            <a:avLst/>
          </a:prstGeom>
          <a:noFill/>
          <a:ln/>
        </p:spPr>
        <p:txBody>
          <a:bodyPr wrap="square" lIns="0" tIns="0" rIns="0" bIns="0" rtlCol="0" anchor="t"/>
          <a:lstStyle/>
          <a:p>
            <a:pPr indent="0" marL="0">
              <a:buNone/>
            </a:pPr>
            <a:r>
              <a:rPr lang="en-US" sz="1200" dirty="0">
                <a:solidFill>
                  <a:schemeClr val="tx1"/>
                </a:solidFill>
              </a:rPr>
              <a:t>Remove blanks, set field roles, split data</a:t>
            </a:r>
            <a:endParaRPr lang="en-US" sz="1200" dirty="0"/>
          </a:p>
        </p:txBody>
      </p:sp>
      <p:sp>
        <p:nvSpPr>
          <p:cNvPr id="16" name="Phase card 4"/>
          <p:cNvSpPr/>
          <p:nvPr/>
        </p:nvSpPr>
        <p:spPr>
          <a:xfrm>
            <a:off x="457200" y="3246120"/>
            <a:ext cx="2560320" cy="1371600"/>
          </a:xfrm>
          <a:prstGeom prst="roundRect">
            <a:avLst>
              <a:gd name="adj" fmla="val 6667"/>
            </a:avLst>
          </a:prstGeom>
          <a:solidFill>
            <a:schemeClr val="bg2"/>
          </a:solidFill>
          <a:ln w="12700">
            <a:solidFill>
              <a:schemeClr val="bg2"/>
            </a:solidFill>
            <a:prstDash val="solid"/>
          </a:ln>
        </p:spPr>
      </p:sp>
      <p:sp>
        <p:nvSpPr>
          <p:cNvPr id="17" name="Phase badge 4"/>
          <p:cNvSpPr txBox="1"/>
          <p:nvPr/>
        </p:nvSpPr>
        <p:spPr>
          <a:xfrm>
            <a:off x="640080" y="3410712"/>
            <a:ext cx="457200" cy="457200"/>
          </a:xfrm>
          <a:prstGeom prst="ellipse">
            <a:avLst/>
          </a:prstGeom>
          <a:solidFill>
            <a:srgbClr val="F26B5B"/>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Phase title 4"/>
          <p:cNvSpPr txBox="1"/>
          <p:nvPr/>
        </p:nvSpPr>
        <p:spPr>
          <a:xfrm>
            <a:off x="1234440" y="33832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Analysis and modelling</a:t>
            </a:r>
            <a:endParaRPr lang="en-US" sz="1400" dirty="0"/>
          </a:p>
        </p:txBody>
      </p:sp>
      <p:sp>
        <p:nvSpPr>
          <p:cNvPr id="19" name="Phase text 4"/>
          <p:cNvSpPr txBox="1"/>
          <p:nvPr/>
        </p:nvSpPr>
        <p:spPr>
          <a:xfrm>
            <a:off x="640080" y="3995928"/>
            <a:ext cx="2194560" cy="457200"/>
          </a:xfrm>
          <a:prstGeom prst="rect">
            <a:avLst/>
          </a:prstGeom>
          <a:noFill/>
          <a:ln/>
        </p:spPr>
        <p:txBody>
          <a:bodyPr wrap="square" lIns="0" tIns="0" rIns="0" bIns="0" rtlCol="0" anchor="t"/>
          <a:lstStyle/>
          <a:p>
            <a:pPr indent="0" marL="0">
              <a:buNone/>
            </a:pPr>
            <a:r>
              <a:rPr lang="en-US" sz="1200" dirty="0">
                <a:solidFill>
                  <a:schemeClr val="tx1"/>
                </a:solidFill>
              </a:rPr>
              <a:t>Chi-square, T-test, Logistic Regression, C5.0</a:t>
            </a:r>
            <a:endParaRPr lang="en-US" sz="1200" dirty="0"/>
          </a:p>
        </p:txBody>
      </p:sp>
      <p:sp>
        <p:nvSpPr>
          <p:cNvPr id="20" name="Phase card 5"/>
          <p:cNvSpPr/>
          <p:nvPr/>
        </p:nvSpPr>
        <p:spPr>
          <a:xfrm>
            <a:off x="3291840" y="3246120"/>
            <a:ext cx="2560320" cy="1371600"/>
          </a:xfrm>
          <a:prstGeom prst="roundRect">
            <a:avLst>
              <a:gd name="adj" fmla="val 6667"/>
            </a:avLst>
          </a:prstGeom>
          <a:solidFill>
            <a:schemeClr val="bg2"/>
          </a:solidFill>
          <a:ln w="12700">
            <a:solidFill>
              <a:schemeClr val="bg2"/>
            </a:solidFill>
            <a:prstDash val="solid"/>
          </a:ln>
        </p:spPr>
      </p:sp>
      <p:sp>
        <p:nvSpPr>
          <p:cNvPr id="21" name="Phase badge 5"/>
          <p:cNvSpPr txBox="1"/>
          <p:nvPr/>
        </p:nvSpPr>
        <p:spPr>
          <a:xfrm>
            <a:off x="3474720" y="3410712"/>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Phase title 5"/>
          <p:cNvSpPr txBox="1"/>
          <p:nvPr/>
        </p:nvSpPr>
        <p:spPr>
          <a:xfrm>
            <a:off x="4069080" y="33832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Evaluation</a:t>
            </a:r>
            <a:endParaRPr lang="en-US" sz="1400" dirty="0"/>
          </a:p>
        </p:txBody>
      </p:sp>
      <p:sp>
        <p:nvSpPr>
          <p:cNvPr id="23" name="Phase text 5"/>
          <p:cNvSpPr txBox="1"/>
          <p:nvPr/>
        </p:nvSpPr>
        <p:spPr>
          <a:xfrm>
            <a:off x="3474720" y="3995928"/>
            <a:ext cx="2194560" cy="457200"/>
          </a:xfrm>
          <a:prstGeom prst="rect">
            <a:avLst/>
          </a:prstGeom>
          <a:noFill/>
          <a:ln/>
        </p:spPr>
        <p:txBody>
          <a:bodyPr wrap="square" lIns="0" tIns="0" rIns="0" bIns="0" rtlCol="0" anchor="t"/>
          <a:lstStyle/>
          <a:p>
            <a:pPr indent="0" marL="0">
              <a:buNone/>
            </a:pPr>
            <a:r>
              <a:rPr lang="en-US" sz="1200" dirty="0">
                <a:solidFill>
                  <a:schemeClr val="tx1"/>
                </a:solidFill>
              </a:rPr>
              <a:t>Accuracy, confusion matrix, best model</a:t>
            </a:r>
            <a:endParaRPr lang="en-US" sz="1200" dirty="0"/>
          </a:p>
        </p:txBody>
      </p:sp>
      <p:sp>
        <p:nvSpPr>
          <p:cNvPr id="24" name="Phase card 6"/>
          <p:cNvSpPr/>
          <p:nvPr/>
        </p:nvSpPr>
        <p:spPr>
          <a:xfrm>
            <a:off x="6126480" y="3246120"/>
            <a:ext cx="2560320" cy="1371600"/>
          </a:xfrm>
          <a:prstGeom prst="roundRect">
            <a:avLst>
              <a:gd name="adj" fmla="val 6667"/>
            </a:avLst>
          </a:prstGeom>
          <a:solidFill>
            <a:schemeClr val="bg2"/>
          </a:solidFill>
          <a:ln w="12700">
            <a:solidFill>
              <a:schemeClr val="bg2"/>
            </a:solidFill>
            <a:prstDash val="solid"/>
          </a:ln>
        </p:spPr>
      </p:sp>
      <p:sp>
        <p:nvSpPr>
          <p:cNvPr id="25" name="Phase badge 6"/>
          <p:cNvSpPr txBox="1"/>
          <p:nvPr/>
        </p:nvSpPr>
        <p:spPr>
          <a:xfrm>
            <a:off x="6309360" y="3410712"/>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Phase title 6"/>
          <p:cNvSpPr txBox="1"/>
          <p:nvPr/>
        </p:nvSpPr>
        <p:spPr>
          <a:xfrm>
            <a:off x="6903720" y="3383280"/>
            <a:ext cx="1645920" cy="548640"/>
          </a:xfrm>
          <a:prstGeom prst="rect">
            <a:avLst/>
          </a:prstGeom>
          <a:noFill/>
          <a:ln/>
        </p:spPr>
        <p:txBody>
          <a:bodyPr wrap="square" lIns="0" tIns="0" rIns="0" bIns="0" rtlCol="0" anchor="ctr"/>
          <a:lstStyle/>
          <a:p>
            <a:pPr indent="0" marL="0">
              <a:buNone/>
            </a:pPr>
            <a:r>
              <a:rPr lang="en-US" sz="1400" b="1" dirty="0">
                <a:solidFill>
                  <a:schemeClr val="tx2"/>
                </a:solidFill>
              </a:rPr>
              <a:t>Deployment</a:t>
            </a:r>
            <a:endParaRPr lang="en-US" sz="1400" dirty="0"/>
          </a:p>
        </p:txBody>
      </p:sp>
      <p:sp>
        <p:nvSpPr>
          <p:cNvPr id="27" name="Phase text 6"/>
          <p:cNvSpPr txBox="1"/>
          <p:nvPr/>
        </p:nvSpPr>
        <p:spPr>
          <a:xfrm>
            <a:off x="6309360" y="3995928"/>
            <a:ext cx="2194560" cy="457200"/>
          </a:xfrm>
          <a:prstGeom prst="rect">
            <a:avLst/>
          </a:prstGeom>
          <a:noFill/>
          <a:ln/>
        </p:spPr>
        <p:txBody>
          <a:bodyPr wrap="square" lIns="0" tIns="0" rIns="0" bIns="0" rtlCol="0" anchor="t"/>
          <a:lstStyle/>
          <a:p>
            <a:pPr indent="0" marL="0">
              <a:buNone/>
            </a:pPr>
            <a:r>
              <a:rPr lang="en-US" sz="1200" dirty="0">
                <a:solidFill>
                  <a:schemeClr val="tx1"/>
                </a:solidFill>
              </a:rPr>
              <a:t>Key drivers and retention actions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Business understanding: why churn matters</a:t>
            </a:r>
            <a:endParaRPr lang="en-US" sz="3000" dirty="0"/>
          </a:p>
        </p:txBody>
      </p:sp>
      <p:sp>
        <p:nvSpPr>
          <p:cNvPr id="3" name="Churn definition card"/>
          <p:cNvSpPr/>
          <p:nvPr/>
        </p:nvSpPr>
        <p:spPr>
          <a:xfrm>
            <a:off x="457200" y="1234440"/>
            <a:ext cx="3931920" cy="1600200"/>
          </a:xfrm>
          <a:prstGeom prst="roundRect">
            <a:avLst>
              <a:gd name="adj" fmla="val 5714"/>
            </a:avLst>
          </a:prstGeom>
          <a:solidFill>
            <a:schemeClr val="bg2"/>
          </a:solidFill>
          <a:ln w="12700">
            <a:solidFill>
              <a:schemeClr val="bg2"/>
            </a:solidFill>
            <a:prstDash val="solid"/>
          </a:ln>
        </p:spPr>
      </p:sp>
      <p:sp>
        <p:nvSpPr>
          <p:cNvPr id="4" name="Churn definition text"/>
          <p:cNvSpPr txBox="1"/>
          <p:nvPr/>
        </p:nvSpPr>
        <p:spPr>
          <a:xfrm>
            <a:off x="640080" y="1325880"/>
            <a:ext cx="3566160" cy="1417320"/>
          </a:xfrm>
          <a:prstGeom prst="rect">
            <a:avLst/>
          </a:prstGeom>
          <a:noFill/>
          <a:ln/>
        </p:spPr>
        <p:txBody>
          <a:bodyPr wrap="square" lIns="0" tIns="0" rIns="0" bIns="0" rtlCol="0" anchor="t"/>
          <a:lstStyle/>
          <a:p>
            <a:pPr indent="0" marL="0">
              <a:buNone/>
            </a:pPr>
            <a:r>
              <a:rPr lang="en-US" sz="1600" b="1" dirty="0">
                <a:solidFill>
                  <a:schemeClr val="accent1"/>
                </a:solidFill>
              </a:rPr>
              <a:t>What is churn?</a:t>
            </a:r>
            <a:endParaRPr lang="en-US" sz="1600" dirty="0"/>
          </a:p>
          <a:p>
            <a:pPr indent="0" marL="0">
              <a:buNone/>
            </a:pPr>
            <a:r>
              <a:rPr lang="en-US" sz="1400" dirty="0">
                <a:solidFill>
                  <a:srgbClr val="142B40"/>
                </a:solidFill>
              </a:rPr>
              <a:t>A customer cancels the service and leaves the company. In a subscription business, every lost customer is lost monthly revenue.</a:t>
            </a:r>
            <a:endParaRPr lang="en-US" sz="1600" dirty="0"/>
          </a:p>
        </p:txBody>
      </p:sp>
      <p:sp>
        <p:nvSpPr>
          <p:cNvPr id="5" name="Why it matters card"/>
          <p:cNvSpPr/>
          <p:nvPr/>
        </p:nvSpPr>
        <p:spPr>
          <a:xfrm>
            <a:off x="457200" y="3017520"/>
            <a:ext cx="3931920" cy="1600200"/>
          </a:xfrm>
          <a:prstGeom prst="roundRect">
            <a:avLst>
              <a:gd name="adj" fmla="val 5714"/>
            </a:avLst>
          </a:prstGeom>
          <a:solidFill>
            <a:schemeClr val="bg2"/>
          </a:solidFill>
          <a:ln w="12700">
            <a:solidFill>
              <a:schemeClr val="bg2"/>
            </a:solidFill>
            <a:prstDash val="solid"/>
          </a:ln>
        </p:spPr>
      </p:sp>
      <p:sp>
        <p:nvSpPr>
          <p:cNvPr id="6" name="Why it matters text"/>
          <p:cNvSpPr txBox="1"/>
          <p:nvPr/>
        </p:nvSpPr>
        <p:spPr>
          <a:xfrm>
            <a:off x="640080" y="3108960"/>
            <a:ext cx="3566160" cy="1417320"/>
          </a:xfrm>
          <a:prstGeom prst="rect">
            <a:avLst/>
          </a:prstGeom>
          <a:noFill/>
          <a:ln/>
        </p:spPr>
        <p:txBody>
          <a:bodyPr wrap="square" lIns="0" tIns="0" rIns="0" bIns="0" rtlCol="0" anchor="t"/>
          <a:lstStyle/>
          <a:p>
            <a:pPr indent="0" marL="0">
              <a:buNone/>
            </a:pPr>
            <a:r>
              <a:rPr lang="en-US" sz="1600" b="1" dirty="0">
                <a:solidFill>
                  <a:schemeClr val="accent2"/>
                </a:solidFill>
              </a:rPr>
              <a:t>Why it matters</a:t>
            </a:r>
            <a:endParaRPr lang="en-US" sz="1600" dirty="0"/>
          </a:p>
          <a:p>
            <a:pPr indent="0" marL="0">
              <a:buNone/>
            </a:pPr>
            <a:r>
              <a:rPr lang="en-US" sz="1400" dirty="0">
                <a:solidFill>
                  <a:srgbClr val="142B40"/>
                </a:solidFill>
              </a:rPr>
              <a:t>Winning a new customer costs more than keeping an existing one, so knowing who may leave, and why, saves money.</a:t>
            </a:r>
            <a:endParaRPr lang="en-US" sz="1600" dirty="0"/>
          </a:p>
        </p:txBody>
      </p:sp>
      <p:sp>
        <p:nvSpPr>
          <p:cNvPr id="7" name="Objectives heading"/>
          <p:cNvSpPr txBox="1"/>
          <p:nvPr/>
        </p:nvSpPr>
        <p:spPr>
          <a:xfrm>
            <a:off x="4754880" y="1234440"/>
            <a:ext cx="3931920" cy="365760"/>
          </a:xfrm>
          <a:prstGeom prst="rect">
            <a:avLst/>
          </a:prstGeom>
          <a:noFill/>
          <a:ln/>
        </p:spPr>
        <p:txBody>
          <a:bodyPr wrap="square" lIns="0" tIns="0" rIns="0" bIns="0" rtlCol="0" anchor="t"/>
          <a:lstStyle/>
          <a:p>
            <a:pPr indent="0" marL="0">
              <a:buNone/>
            </a:pPr>
            <a:r>
              <a:rPr lang="en-US" sz="1600" b="1" dirty="0">
                <a:solidFill>
                  <a:schemeClr val="tx2"/>
                </a:solidFill>
              </a:rPr>
              <a:t>Our four objectives</a:t>
            </a:r>
            <a:endParaRPr lang="en-US" sz="1600" dirty="0"/>
          </a:p>
        </p:txBody>
      </p:sp>
      <p:sp>
        <p:nvSpPr>
          <p:cNvPr id="8" name="Objective badge 1"/>
          <p:cNvSpPr txBox="1"/>
          <p:nvPr/>
        </p:nvSpPr>
        <p:spPr>
          <a:xfrm>
            <a:off x="4754880" y="1737360"/>
            <a:ext cx="502920" cy="502920"/>
          </a:xfrm>
          <a:prstGeom prst="ellipse">
            <a:avLst/>
          </a:prstGeom>
          <a:solidFill>
            <a:srgbClr val="F26B5B"/>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Objective text 1"/>
          <p:cNvSpPr txBox="1"/>
          <p:nvPr/>
        </p:nvSpPr>
        <p:spPr>
          <a:xfrm>
            <a:off x="5440680" y="1737360"/>
            <a:ext cx="3246120" cy="502920"/>
          </a:xfrm>
          <a:prstGeom prst="rect">
            <a:avLst/>
          </a:prstGeom>
          <a:noFill/>
          <a:ln/>
        </p:spPr>
        <p:txBody>
          <a:bodyPr wrap="square" lIns="0" tIns="0" rIns="0" bIns="0" rtlCol="0" anchor="ctr"/>
          <a:lstStyle/>
          <a:p>
            <a:pPr indent="0" marL="0">
              <a:buNone/>
            </a:pPr>
            <a:r>
              <a:rPr lang="en-US" sz="1500" b="1" dirty="0">
                <a:solidFill>
                  <a:schemeClr val="tx2"/>
                </a:solidFill>
              </a:rPr>
              <a:t>Measure the overall churn rate</a:t>
            </a:r>
            <a:endParaRPr lang="en-US" sz="1500" dirty="0"/>
          </a:p>
        </p:txBody>
      </p:sp>
      <p:sp>
        <p:nvSpPr>
          <p:cNvPr id="10" name="Objective badge 2"/>
          <p:cNvSpPr txBox="1"/>
          <p:nvPr/>
        </p:nvSpPr>
        <p:spPr>
          <a:xfrm>
            <a:off x="4754880" y="2468880"/>
            <a:ext cx="502920" cy="50292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Objective text 2"/>
          <p:cNvSpPr txBox="1"/>
          <p:nvPr/>
        </p:nvSpPr>
        <p:spPr>
          <a:xfrm>
            <a:off x="5440680" y="2468880"/>
            <a:ext cx="3246120" cy="502920"/>
          </a:xfrm>
          <a:prstGeom prst="rect">
            <a:avLst/>
          </a:prstGeom>
          <a:noFill/>
          <a:ln/>
        </p:spPr>
        <p:txBody>
          <a:bodyPr wrap="square" lIns="0" tIns="0" rIns="0" bIns="0" rtlCol="0" anchor="ctr"/>
          <a:lstStyle/>
          <a:p>
            <a:pPr indent="0" marL="0">
              <a:buNone/>
            </a:pPr>
            <a:r>
              <a:rPr lang="en-US" sz="1500" b="1" dirty="0">
                <a:solidFill>
                  <a:schemeClr val="tx2"/>
                </a:solidFill>
              </a:rPr>
              <a:t>Test which factors are linked to churn</a:t>
            </a:r>
            <a:endParaRPr lang="en-US" sz="1500" dirty="0"/>
          </a:p>
        </p:txBody>
      </p:sp>
      <p:sp>
        <p:nvSpPr>
          <p:cNvPr id="12" name="Objective badge 3"/>
          <p:cNvSpPr txBox="1"/>
          <p:nvPr/>
        </p:nvSpPr>
        <p:spPr>
          <a:xfrm>
            <a:off x="4754880" y="3200400"/>
            <a:ext cx="502920" cy="502920"/>
          </a:xfrm>
          <a:prstGeom prst="ellipse">
            <a:avLst/>
          </a:prstGeom>
          <a:solidFill>
            <a:srgbClr val="F26B5B"/>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Objective text 3"/>
          <p:cNvSpPr txBox="1"/>
          <p:nvPr/>
        </p:nvSpPr>
        <p:spPr>
          <a:xfrm>
            <a:off x="5440680" y="3200400"/>
            <a:ext cx="3246120" cy="502920"/>
          </a:xfrm>
          <a:prstGeom prst="rect">
            <a:avLst/>
          </a:prstGeom>
          <a:noFill/>
          <a:ln/>
        </p:spPr>
        <p:txBody>
          <a:bodyPr wrap="square" lIns="0" tIns="0" rIns="0" bIns="0" rtlCol="0" anchor="ctr"/>
          <a:lstStyle/>
          <a:p>
            <a:pPr indent="0" marL="0">
              <a:buNone/>
            </a:pPr>
            <a:r>
              <a:rPr lang="en-US" sz="1500" b="1" dirty="0">
                <a:solidFill>
                  <a:schemeClr val="tx2"/>
                </a:solidFill>
              </a:rPr>
              <a:t>Build and compare two prediction models</a:t>
            </a:r>
            <a:endParaRPr lang="en-US" sz="1500" dirty="0"/>
          </a:p>
        </p:txBody>
      </p:sp>
      <p:sp>
        <p:nvSpPr>
          <p:cNvPr id="14" name="Objective badge 4"/>
          <p:cNvSpPr txBox="1"/>
          <p:nvPr/>
        </p:nvSpPr>
        <p:spPr>
          <a:xfrm>
            <a:off x="4754880" y="3931920"/>
            <a:ext cx="502920" cy="50292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Objective text 4"/>
          <p:cNvSpPr txBox="1"/>
          <p:nvPr/>
        </p:nvSpPr>
        <p:spPr>
          <a:xfrm>
            <a:off x="5440680" y="3931920"/>
            <a:ext cx="3246120" cy="502920"/>
          </a:xfrm>
          <a:prstGeom prst="rect">
            <a:avLst/>
          </a:prstGeom>
          <a:noFill/>
          <a:ln/>
        </p:spPr>
        <p:txBody>
          <a:bodyPr wrap="square" lIns="0" tIns="0" rIns="0" bIns="0" rtlCol="0" anchor="ctr"/>
          <a:lstStyle/>
          <a:p>
            <a:pPr indent="0" marL="0">
              <a:buNone/>
            </a:pPr>
            <a:r>
              <a:rPr lang="en-US" sz="1500" b="1" dirty="0">
                <a:solidFill>
                  <a:schemeClr val="tx2"/>
                </a:solidFill>
              </a:rPr>
              <a:t>Turn findings into retention actions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Data understanding: the dataset</a:t>
            </a:r>
            <a:endParaRPr lang="en-US" sz="3000" dirty="0"/>
          </a:p>
        </p:txBody>
      </p:sp>
      <p:sp>
        <p:nvSpPr>
          <p:cNvPr id="3" name="Dataset intro"/>
          <p:cNvSpPr txBox="1"/>
          <p:nvPr/>
        </p:nvSpPr>
        <p:spPr>
          <a:xfrm>
            <a:off x="457200" y="1097280"/>
            <a:ext cx="8229600" cy="502920"/>
          </a:xfrm>
          <a:prstGeom prst="rect">
            <a:avLst/>
          </a:prstGeom>
          <a:noFill/>
          <a:ln/>
        </p:spPr>
        <p:txBody>
          <a:bodyPr wrap="square" lIns="0" tIns="0" rIns="0" bIns="0" rtlCol="0" anchor="t"/>
          <a:lstStyle/>
          <a:p>
            <a:pPr indent="0" marL="0">
              <a:buNone/>
            </a:pPr>
            <a:r>
              <a:rPr lang="en-US" sz="1500" dirty="0">
                <a:solidFill>
                  <a:schemeClr val="tx1"/>
                </a:solidFill>
              </a:rPr>
              <a:t>Telco Customer Churn (IBM sample data, from Kaggle): 7,043 customers and 21 fields. Each row is one customer.</a:t>
            </a:r>
            <a:endParaRPr lang="en-US" sz="1500" dirty="0"/>
          </a:p>
        </p:txBody>
      </p:sp>
      <p:sp>
        <p:nvSpPr>
          <p:cNvPr id="4" name="Variable group card 1"/>
          <p:cNvSpPr/>
          <p:nvPr/>
        </p:nvSpPr>
        <p:spPr>
          <a:xfrm>
            <a:off x="457200" y="1783080"/>
            <a:ext cx="4023360" cy="1325880"/>
          </a:xfrm>
          <a:prstGeom prst="roundRect">
            <a:avLst>
              <a:gd name="adj" fmla="val 6897"/>
            </a:avLst>
          </a:prstGeom>
          <a:solidFill>
            <a:srgbClr val="1C7C8C"/>
          </a:solidFill>
          <a:ln w="12700">
            <a:solidFill>
              <a:srgbClr val="1C7C8C"/>
            </a:solidFill>
            <a:prstDash val="solid"/>
          </a:ln>
        </p:spPr>
      </p:sp>
      <p:sp>
        <p:nvSpPr>
          <p:cNvPr id="5" name="Variable group text 1"/>
          <p:cNvSpPr txBox="1"/>
          <p:nvPr/>
        </p:nvSpPr>
        <p:spPr>
          <a:xfrm>
            <a:off x="640080" y="1892808"/>
            <a:ext cx="3657600" cy="1097280"/>
          </a:xfrm>
          <a:prstGeom prst="rect">
            <a:avLst/>
          </a:prstGeom>
          <a:noFill/>
          <a:ln/>
        </p:spPr>
        <p:txBody>
          <a:bodyPr wrap="square" lIns="0" tIns="0" rIns="0" bIns="0" rtlCol="0" anchor="t"/>
          <a:lstStyle/>
          <a:p>
            <a:pPr indent="0" marL="0">
              <a:buNone/>
            </a:pPr>
            <a:r>
              <a:rPr lang="en-US" sz="1600" b="1" dirty="0">
                <a:solidFill>
                  <a:srgbClr val="FFFFFF"/>
                </a:solidFill>
              </a:rPr>
              <a:t>Demographics</a:t>
            </a:r>
            <a:endParaRPr lang="en-US" sz="1600" dirty="0"/>
          </a:p>
          <a:p>
            <a:pPr indent="0" marL="0">
              <a:buNone/>
            </a:pPr>
            <a:r>
              <a:rPr lang="en-US" sz="1300" dirty="0">
                <a:solidFill>
                  <a:srgbClr val="FFFFFF"/>
                </a:solidFill>
              </a:rPr>
              <a:t>gender, SeniorCitizen, Partner, Dependents</a:t>
            </a:r>
            <a:endParaRPr lang="en-US" sz="1600" dirty="0"/>
          </a:p>
        </p:txBody>
      </p:sp>
      <p:sp>
        <p:nvSpPr>
          <p:cNvPr id="6" name="Variable group card 2"/>
          <p:cNvSpPr/>
          <p:nvPr/>
        </p:nvSpPr>
        <p:spPr>
          <a:xfrm>
            <a:off x="4663440" y="1783080"/>
            <a:ext cx="4023360" cy="1325880"/>
          </a:xfrm>
          <a:prstGeom prst="roundRect">
            <a:avLst>
              <a:gd name="adj" fmla="val 6897"/>
            </a:avLst>
          </a:prstGeom>
          <a:solidFill>
            <a:srgbClr val="5B7C99"/>
          </a:solidFill>
          <a:ln w="12700">
            <a:solidFill>
              <a:srgbClr val="5B7C99"/>
            </a:solidFill>
            <a:prstDash val="solid"/>
          </a:ln>
        </p:spPr>
      </p:sp>
      <p:sp>
        <p:nvSpPr>
          <p:cNvPr id="7" name="Variable group text 2"/>
          <p:cNvSpPr txBox="1"/>
          <p:nvPr/>
        </p:nvSpPr>
        <p:spPr>
          <a:xfrm>
            <a:off x="4846320" y="1892808"/>
            <a:ext cx="3657600" cy="1097280"/>
          </a:xfrm>
          <a:prstGeom prst="rect">
            <a:avLst/>
          </a:prstGeom>
          <a:noFill/>
          <a:ln/>
        </p:spPr>
        <p:txBody>
          <a:bodyPr wrap="square" lIns="0" tIns="0" rIns="0" bIns="0" rtlCol="0" anchor="t"/>
          <a:lstStyle/>
          <a:p>
            <a:pPr indent="0" marL="0">
              <a:buNone/>
            </a:pPr>
            <a:r>
              <a:rPr lang="en-US" sz="1600" b="1" dirty="0">
                <a:solidFill>
                  <a:srgbClr val="FFFFFF"/>
                </a:solidFill>
              </a:rPr>
              <a:t>Services used</a:t>
            </a:r>
            <a:endParaRPr lang="en-US" sz="1600" dirty="0"/>
          </a:p>
          <a:p>
            <a:pPr indent="0" marL="0">
              <a:buNone/>
            </a:pPr>
            <a:r>
              <a:rPr lang="en-US" sz="1300" dirty="0">
                <a:solidFill>
                  <a:srgbClr val="FFFFFF"/>
                </a:solidFill>
              </a:rPr>
              <a:t>PhoneService, MultipleLines, InternetService, OnlineSecurity, OnlineBackup, DeviceProtection, TechSupport, StreamingTV, StreamingMovies</a:t>
            </a:r>
            <a:endParaRPr lang="en-US" sz="1600" dirty="0"/>
          </a:p>
        </p:txBody>
      </p:sp>
      <p:sp>
        <p:nvSpPr>
          <p:cNvPr id="8" name="Variable group card 3"/>
          <p:cNvSpPr/>
          <p:nvPr/>
        </p:nvSpPr>
        <p:spPr>
          <a:xfrm>
            <a:off x="457200" y="3246120"/>
            <a:ext cx="4023360" cy="1325880"/>
          </a:xfrm>
          <a:prstGeom prst="roundRect">
            <a:avLst>
              <a:gd name="adj" fmla="val 6897"/>
            </a:avLst>
          </a:prstGeom>
          <a:solidFill>
            <a:srgbClr val="1C7C8C"/>
          </a:solidFill>
          <a:ln w="12700">
            <a:solidFill>
              <a:srgbClr val="1C7C8C"/>
            </a:solidFill>
            <a:prstDash val="solid"/>
          </a:ln>
        </p:spPr>
      </p:sp>
      <p:sp>
        <p:nvSpPr>
          <p:cNvPr id="9" name="Variable group text 3"/>
          <p:cNvSpPr txBox="1"/>
          <p:nvPr/>
        </p:nvSpPr>
        <p:spPr>
          <a:xfrm>
            <a:off x="640080" y="3355848"/>
            <a:ext cx="3657600" cy="1097280"/>
          </a:xfrm>
          <a:prstGeom prst="rect">
            <a:avLst/>
          </a:prstGeom>
          <a:noFill/>
          <a:ln/>
        </p:spPr>
        <p:txBody>
          <a:bodyPr wrap="square" lIns="0" tIns="0" rIns="0" bIns="0" rtlCol="0" anchor="t"/>
          <a:lstStyle/>
          <a:p>
            <a:pPr indent="0" marL="0">
              <a:buNone/>
            </a:pPr>
            <a:r>
              <a:rPr lang="en-US" sz="1600" b="1" dirty="0">
                <a:solidFill>
                  <a:srgbClr val="FFFFFF"/>
                </a:solidFill>
              </a:rPr>
              <a:t>Account details</a:t>
            </a:r>
            <a:endParaRPr lang="en-US" sz="1600" dirty="0"/>
          </a:p>
          <a:p>
            <a:pPr indent="0" marL="0">
              <a:buNone/>
            </a:pPr>
            <a:r>
              <a:rPr lang="en-US" sz="1300" dirty="0">
                <a:solidFill>
                  <a:srgbClr val="FFFFFF"/>
                </a:solidFill>
              </a:rPr>
              <a:t>tenure, Contract, PaperlessBilling, PaymentMethod, MonthlyCharges, TotalCharges</a:t>
            </a:r>
            <a:endParaRPr lang="en-US" sz="1600" dirty="0"/>
          </a:p>
        </p:txBody>
      </p:sp>
      <p:sp>
        <p:nvSpPr>
          <p:cNvPr id="10" name="Variable group card 4"/>
          <p:cNvSpPr/>
          <p:nvPr/>
        </p:nvSpPr>
        <p:spPr>
          <a:xfrm>
            <a:off x="4663440" y="3246120"/>
            <a:ext cx="4023360" cy="1325880"/>
          </a:xfrm>
          <a:prstGeom prst="roundRect">
            <a:avLst>
              <a:gd name="adj" fmla="val 6897"/>
            </a:avLst>
          </a:prstGeom>
          <a:solidFill>
            <a:srgbClr val="F26B5B"/>
          </a:solidFill>
          <a:ln w="12700">
            <a:solidFill>
              <a:srgbClr val="F26B5B"/>
            </a:solidFill>
            <a:prstDash val="solid"/>
          </a:ln>
        </p:spPr>
      </p:sp>
      <p:sp>
        <p:nvSpPr>
          <p:cNvPr id="11" name="Variable group text 4"/>
          <p:cNvSpPr txBox="1"/>
          <p:nvPr/>
        </p:nvSpPr>
        <p:spPr>
          <a:xfrm>
            <a:off x="4846320" y="3355848"/>
            <a:ext cx="3657600" cy="1097280"/>
          </a:xfrm>
          <a:prstGeom prst="rect">
            <a:avLst/>
          </a:prstGeom>
          <a:noFill/>
          <a:ln/>
        </p:spPr>
        <p:txBody>
          <a:bodyPr wrap="square" lIns="0" tIns="0" rIns="0" bIns="0" rtlCol="0" anchor="t"/>
          <a:lstStyle/>
          <a:p>
            <a:pPr indent="0" marL="0">
              <a:buNone/>
            </a:pPr>
            <a:r>
              <a:rPr lang="en-US" sz="1600" b="1" dirty="0">
                <a:solidFill>
                  <a:srgbClr val="FFFFFF"/>
                </a:solidFill>
              </a:rPr>
              <a:t>Target field</a:t>
            </a:r>
            <a:endParaRPr lang="en-US" sz="1600" dirty="0"/>
          </a:p>
          <a:p>
            <a:pPr indent="0" marL="0">
              <a:buNone/>
            </a:pPr>
            <a:r>
              <a:rPr lang="en-US" sz="1300" dirty="0">
                <a:solidFill>
                  <a:srgbClr val="FFFFFF"/>
                </a:solidFill>
              </a:rPr>
              <a:t>Churn (Yes = left, No = stayed). customerID is only an ID and is not used.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Our SPSS Modeler stream at a glance</a:t>
            </a:r>
            <a:endParaRPr lang="en-US" sz="3000" dirty="0"/>
          </a:p>
        </p:txBody>
      </p:sp>
      <p:sp>
        <p:nvSpPr>
          <p:cNvPr id="3" name="Node Excel"/>
          <p:cNvSpPr/>
          <p:nvPr/>
        </p:nvSpPr>
        <p:spPr>
          <a:xfrm>
            <a:off x="457200" y="1234440"/>
            <a:ext cx="1371600" cy="1005840"/>
          </a:xfrm>
          <a:prstGeom prst="roundRect">
            <a:avLst>
              <a:gd name="adj" fmla="val 9091"/>
            </a:avLst>
          </a:prstGeom>
          <a:solidFill>
            <a:srgbClr val="0F2A43"/>
          </a:solidFill>
          <a:ln w="12700">
            <a:solidFill>
              <a:srgbClr val="0F2A43"/>
            </a:solidFill>
            <a:prstDash val="solid"/>
          </a:ln>
        </p:spPr>
      </p:sp>
      <p:sp>
        <p:nvSpPr>
          <p:cNvPr id="4" name="Node Excel text"/>
          <p:cNvSpPr txBox="1"/>
          <p:nvPr/>
        </p:nvSpPr>
        <p:spPr>
          <a:xfrm>
            <a:off x="548640" y="1289304"/>
            <a:ext cx="1188720" cy="896112"/>
          </a:xfrm>
          <a:prstGeom prst="rect">
            <a:avLst/>
          </a:prstGeom>
          <a:noFill/>
          <a:ln/>
        </p:spPr>
        <p:txBody>
          <a:bodyPr wrap="square" lIns="0" tIns="0" rIns="0" bIns="0" rtlCol="0" anchor="ctr"/>
          <a:lstStyle/>
          <a:p>
            <a:pPr algn="ctr" indent="0" marL="0">
              <a:buNone/>
            </a:pPr>
            <a:r>
              <a:rPr lang="en-US" sz="1400" b="1" dirty="0">
                <a:solidFill>
                  <a:srgbClr val="FFFFFF"/>
                </a:solidFill>
              </a:rPr>
              <a:t>Excel source</a:t>
            </a:r>
            <a:endParaRPr lang="en-US" sz="1400" dirty="0"/>
          </a:p>
          <a:p>
            <a:pPr algn="ctr" indent="0" marL="0">
              <a:buNone/>
            </a:pPr>
            <a:r>
              <a:rPr lang="en-US" sz="1200" dirty="0">
                <a:solidFill>
                  <a:srgbClr val="FFFFFF"/>
                </a:solidFill>
              </a:rPr>
              <a:t>7,043 rows, 21 fields</a:t>
            </a:r>
            <a:endParaRPr lang="en-US" sz="1400" dirty="0"/>
          </a:p>
        </p:txBody>
      </p:sp>
      <p:sp>
        <p:nvSpPr>
          <p:cNvPr id="5" name="Node Select"/>
          <p:cNvSpPr/>
          <p:nvPr/>
        </p:nvSpPr>
        <p:spPr>
          <a:xfrm>
            <a:off x="2194560" y="1234440"/>
            <a:ext cx="1371600" cy="1005840"/>
          </a:xfrm>
          <a:prstGeom prst="roundRect">
            <a:avLst>
              <a:gd name="adj" fmla="val 9091"/>
            </a:avLst>
          </a:prstGeom>
          <a:solidFill>
            <a:srgbClr val="1C7C8C"/>
          </a:solidFill>
          <a:ln w="12700">
            <a:solidFill>
              <a:srgbClr val="1C7C8C"/>
            </a:solidFill>
            <a:prstDash val="solid"/>
          </a:ln>
        </p:spPr>
      </p:sp>
      <p:sp>
        <p:nvSpPr>
          <p:cNvPr id="6" name="Node Select text"/>
          <p:cNvSpPr txBox="1"/>
          <p:nvPr/>
        </p:nvSpPr>
        <p:spPr>
          <a:xfrm>
            <a:off x="2286000" y="1289304"/>
            <a:ext cx="1188720" cy="896112"/>
          </a:xfrm>
          <a:prstGeom prst="rect">
            <a:avLst/>
          </a:prstGeom>
          <a:noFill/>
          <a:ln/>
        </p:spPr>
        <p:txBody>
          <a:bodyPr wrap="square" lIns="0" tIns="0" rIns="0" bIns="0" rtlCol="0" anchor="ctr"/>
          <a:lstStyle/>
          <a:p>
            <a:pPr algn="ctr" indent="0" marL="0">
              <a:buNone/>
            </a:pPr>
            <a:r>
              <a:rPr lang="en-US" sz="1400" b="1" dirty="0">
                <a:solidFill>
                  <a:srgbClr val="FFFFFF"/>
                </a:solidFill>
              </a:rPr>
              <a:t>Select</a:t>
            </a:r>
            <a:endParaRPr lang="en-US" sz="1400" dirty="0"/>
          </a:p>
          <a:p>
            <a:pPr algn="ctr" indent="0" marL="0">
              <a:buNone/>
            </a:pPr>
            <a:r>
              <a:rPr lang="en-US" sz="1200" dirty="0">
                <a:solidFill>
                  <a:srgbClr val="FFFFFF"/>
                </a:solidFill>
              </a:rPr>
              <a:t>Discard blank TotalCharges</a:t>
            </a:r>
            <a:endParaRPr lang="en-US" sz="1400" dirty="0"/>
          </a:p>
        </p:txBody>
      </p:sp>
      <p:sp>
        <p:nvSpPr>
          <p:cNvPr id="7" name="Node Type"/>
          <p:cNvSpPr/>
          <p:nvPr/>
        </p:nvSpPr>
        <p:spPr>
          <a:xfrm>
            <a:off x="3931920" y="1234440"/>
            <a:ext cx="1371600" cy="1005840"/>
          </a:xfrm>
          <a:prstGeom prst="roundRect">
            <a:avLst>
              <a:gd name="adj" fmla="val 9091"/>
            </a:avLst>
          </a:prstGeom>
          <a:solidFill>
            <a:srgbClr val="1C7C8C"/>
          </a:solidFill>
          <a:ln w="12700">
            <a:solidFill>
              <a:srgbClr val="1C7C8C"/>
            </a:solidFill>
            <a:prstDash val="solid"/>
          </a:ln>
        </p:spPr>
      </p:sp>
      <p:sp>
        <p:nvSpPr>
          <p:cNvPr id="8" name="Node Type text"/>
          <p:cNvSpPr txBox="1"/>
          <p:nvPr/>
        </p:nvSpPr>
        <p:spPr>
          <a:xfrm>
            <a:off x="4023360" y="1289304"/>
            <a:ext cx="1188720" cy="896112"/>
          </a:xfrm>
          <a:prstGeom prst="rect">
            <a:avLst/>
          </a:prstGeom>
          <a:noFill/>
          <a:ln/>
        </p:spPr>
        <p:txBody>
          <a:bodyPr wrap="square" lIns="0" tIns="0" rIns="0" bIns="0" rtlCol="0" anchor="ctr"/>
          <a:lstStyle/>
          <a:p>
            <a:pPr algn="ctr" indent="0" marL="0">
              <a:buNone/>
            </a:pPr>
            <a:r>
              <a:rPr lang="en-US" sz="1400" b="1" dirty="0">
                <a:solidFill>
                  <a:srgbClr val="FFFFFF"/>
                </a:solidFill>
              </a:rPr>
              <a:t>Type</a:t>
            </a:r>
            <a:endParaRPr lang="en-US" sz="1400" dirty="0"/>
          </a:p>
          <a:p>
            <a:pPr algn="ctr" indent="0" marL="0">
              <a:buNone/>
            </a:pPr>
            <a:r>
              <a:rPr lang="en-US" sz="1200" dirty="0">
                <a:solidFill>
                  <a:srgbClr val="FFFFFF"/>
                </a:solidFill>
              </a:rPr>
              <a:t>Churn = target</a:t>
            </a:r>
            <a:endParaRPr lang="en-US" sz="1400" dirty="0"/>
          </a:p>
        </p:txBody>
      </p:sp>
      <p:sp>
        <p:nvSpPr>
          <p:cNvPr id="9" name="Node Partition"/>
          <p:cNvSpPr/>
          <p:nvPr/>
        </p:nvSpPr>
        <p:spPr>
          <a:xfrm>
            <a:off x="5669280" y="1234440"/>
            <a:ext cx="1371600" cy="1005840"/>
          </a:xfrm>
          <a:prstGeom prst="roundRect">
            <a:avLst>
              <a:gd name="adj" fmla="val 9091"/>
            </a:avLst>
          </a:prstGeom>
          <a:solidFill>
            <a:srgbClr val="1C7C8C"/>
          </a:solidFill>
          <a:ln w="12700">
            <a:solidFill>
              <a:srgbClr val="1C7C8C"/>
            </a:solidFill>
            <a:prstDash val="solid"/>
          </a:ln>
        </p:spPr>
      </p:sp>
      <p:sp>
        <p:nvSpPr>
          <p:cNvPr id="10" name="Node Partition text"/>
          <p:cNvSpPr txBox="1"/>
          <p:nvPr/>
        </p:nvSpPr>
        <p:spPr>
          <a:xfrm>
            <a:off x="5760720" y="1289304"/>
            <a:ext cx="1188720" cy="896112"/>
          </a:xfrm>
          <a:prstGeom prst="rect">
            <a:avLst/>
          </a:prstGeom>
          <a:noFill/>
          <a:ln/>
        </p:spPr>
        <p:txBody>
          <a:bodyPr wrap="square" lIns="0" tIns="0" rIns="0" bIns="0" rtlCol="0" anchor="ctr"/>
          <a:lstStyle/>
          <a:p>
            <a:pPr algn="ctr" indent="0" marL="0">
              <a:buNone/>
            </a:pPr>
            <a:r>
              <a:rPr lang="en-US" sz="1400" b="1" dirty="0">
                <a:solidFill>
                  <a:srgbClr val="FFFFFF"/>
                </a:solidFill>
              </a:rPr>
              <a:t>Partition</a:t>
            </a:r>
            <a:endParaRPr lang="en-US" sz="1400" dirty="0"/>
          </a:p>
          <a:p>
            <a:pPr algn="ctr" indent="0" marL="0">
              <a:buNone/>
            </a:pPr>
            <a:r>
              <a:rPr lang="en-US" sz="1200" dirty="0">
                <a:solidFill>
                  <a:srgbClr val="FFFFFF"/>
                </a:solidFill>
              </a:rPr>
              <a:t>70% train, 30% test</a:t>
            </a:r>
            <a:endParaRPr lang="en-US" sz="1400" dirty="0"/>
          </a:p>
        </p:txBody>
      </p:sp>
      <p:sp>
        <p:nvSpPr>
          <p:cNvPr id="11" name="Node Models"/>
          <p:cNvSpPr/>
          <p:nvPr/>
        </p:nvSpPr>
        <p:spPr>
          <a:xfrm>
            <a:off x="7406640" y="1234440"/>
            <a:ext cx="1280160" cy="1005840"/>
          </a:xfrm>
          <a:prstGeom prst="roundRect">
            <a:avLst>
              <a:gd name="adj" fmla="val 9091"/>
            </a:avLst>
          </a:prstGeom>
          <a:solidFill>
            <a:srgbClr val="F26B5B"/>
          </a:solidFill>
          <a:ln w="12700">
            <a:solidFill>
              <a:srgbClr val="F26B5B"/>
            </a:solidFill>
            <a:prstDash val="solid"/>
          </a:ln>
        </p:spPr>
      </p:sp>
      <p:sp>
        <p:nvSpPr>
          <p:cNvPr id="12" name="Node Models text"/>
          <p:cNvSpPr txBox="1"/>
          <p:nvPr/>
        </p:nvSpPr>
        <p:spPr>
          <a:xfrm>
            <a:off x="7498080" y="1289304"/>
            <a:ext cx="1097280" cy="896112"/>
          </a:xfrm>
          <a:prstGeom prst="rect">
            <a:avLst/>
          </a:prstGeom>
          <a:noFill/>
          <a:ln/>
        </p:spPr>
        <p:txBody>
          <a:bodyPr wrap="square" lIns="0" tIns="0" rIns="0" bIns="0" rtlCol="0" anchor="ctr"/>
          <a:lstStyle/>
          <a:p>
            <a:pPr algn="ctr" indent="0" marL="0">
              <a:buNone/>
            </a:pPr>
            <a:r>
              <a:rPr lang="en-US" sz="1400" b="1" dirty="0">
                <a:solidFill>
                  <a:srgbClr val="FFFFFF"/>
                </a:solidFill>
              </a:rPr>
              <a:t>Models</a:t>
            </a:r>
            <a:endParaRPr lang="en-US" sz="1400" dirty="0"/>
          </a:p>
          <a:p>
            <a:pPr algn="ctr" indent="0" marL="0">
              <a:buNone/>
            </a:pPr>
            <a:r>
              <a:rPr lang="en-US" sz="1200" dirty="0">
                <a:solidFill>
                  <a:srgbClr val="FFFFFF"/>
                </a:solidFill>
              </a:rPr>
              <a:t>Logistic, C5.0, Analysis</a:t>
            </a:r>
            <a:endParaRPr lang="en-US" sz="1400" dirty="0"/>
          </a:p>
        </p:txBody>
      </p:sp>
      <p:sp>
        <p:nvSpPr>
          <p:cNvPr id="13" name="Arrow 1"/>
          <p:cNvSpPr/>
          <p:nvPr/>
        </p:nvSpPr>
        <p:spPr>
          <a:xfrm>
            <a:off x="1828800" y="1737360"/>
            <a:ext cx="365760" cy="0"/>
          </a:xfrm>
          <a:prstGeom prst="line">
            <a:avLst/>
          </a:prstGeom>
          <a:noFill/>
          <a:ln w="25400">
            <a:solidFill>
              <a:srgbClr val="5B7C99"/>
            </a:solidFill>
            <a:prstDash val="solid"/>
            <a:tailEnd type="triangle"/>
          </a:ln>
        </p:spPr>
      </p:sp>
      <p:sp>
        <p:nvSpPr>
          <p:cNvPr id="14" name="Arrow 2"/>
          <p:cNvSpPr/>
          <p:nvPr/>
        </p:nvSpPr>
        <p:spPr>
          <a:xfrm>
            <a:off x="3566160" y="1737360"/>
            <a:ext cx="365760" cy="0"/>
          </a:xfrm>
          <a:prstGeom prst="line">
            <a:avLst/>
          </a:prstGeom>
          <a:noFill/>
          <a:ln w="25400">
            <a:solidFill>
              <a:srgbClr val="5B7C99"/>
            </a:solidFill>
            <a:prstDash val="solid"/>
            <a:tailEnd type="triangle"/>
          </a:ln>
        </p:spPr>
      </p:sp>
      <p:sp>
        <p:nvSpPr>
          <p:cNvPr id="15" name="Arrow 3"/>
          <p:cNvSpPr/>
          <p:nvPr/>
        </p:nvSpPr>
        <p:spPr>
          <a:xfrm>
            <a:off x="5303520" y="1737360"/>
            <a:ext cx="365760" cy="0"/>
          </a:xfrm>
          <a:prstGeom prst="line">
            <a:avLst/>
          </a:prstGeom>
          <a:noFill/>
          <a:ln w="25400">
            <a:solidFill>
              <a:srgbClr val="5B7C99"/>
            </a:solidFill>
            <a:prstDash val="solid"/>
            <a:tailEnd type="triangle"/>
          </a:ln>
        </p:spPr>
      </p:sp>
      <p:sp>
        <p:nvSpPr>
          <p:cNvPr id="16" name="Arrow 4"/>
          <p:cNvSpPr/>
          <p:nvPr/>
        </p:nvSpPr>
        <p:spPr>
          <a:xfrm>
            <a:off x="7040880" y="1737360"/>
            <a:ext cx="365760" cy="0"/>
          </a:xfrm>
          <a:prstGeom prst="line">
            <a:avLst/>
          </a:prstGeom>
          <a:noFill/>
          <a:ln w="25400">
            <a:solidFill>
              <a:srgbClr val="5B7C99"/>
            </a:solidFill>
            <a:prstDash val="solid"/>
            <a:tailEnd type="triangle"/>
          </a:ln>
        </p:spPr>
      </p:sp>
      <p:sp>
        <p:nvSpPr>
          <p:cNvPr id="17" name="Branch stem"/>
          <p:cNvSpPr/>
          <p:nvPr/>
        </p:nvSpPr>
        <p:spPr>
          <a:xfrm>
            <a:off x="4617720" y="2240280"/>
            <a:ext cx="0" cy="365760"/>
          </a:xfrm>
          <a:prstGeom prst="line">
            <a:avLst/>
          </a:prstGeom>
          <a:noFill/>
          <a:ln w="25400">
            <a:solidFill>
              <a:srgbClr val="5B7C99"/>
            </a:solidFill>
            <a:prstDash val="solid"/>
          </a:ln>
        </p:spPr>
      </p:sp>
      <p:sp>
        <p:nvSpPr>
          <p:cNvPr id="18" name="Branch bar"/>
          <p:cNvSpPr/>
          <p:nvPr/>
        </p:nvSpPr>
        <p:spPr>
          <a:xfrm>
            <a:off x="1417320" y="2606040"/>
            <a:ext cx="6309360" cy="0"/>
          </a:xfrm>
          <a:prstGeom prst="line">
            <a:avLst/>
          </a:prstGeom>
          <a:noFill/>
          <a:ln w="25400">
            <a:solidFill>
              <a:srgbClr val="5B7C99"/>
            </a:solidFill>
            <a:prstDash val="solid"/>
          </a:ln>
        </p:spPr>
      </p:sp>
      <p:sp>
        <p:nvSpPr>
          <p:cNvPr id="19" name="Branch tick 1"/>
          <p:cNvSpPr/>
          <p:nvPr/>
        </p:nvSpPr>
        <p:spPr>
          <a:xfrm>
            <a:off x="1417320" y="2606040"/>
            <a:ext cx="0" cy="365760"/>
          </a:xfrm>
          <a:prstGeom prst="line">
            <a:avLst/>
          </a:prstGeom>
          <a:noFill/>
          <a:ln w="25400">
            <a:solidFill>
              <a:srgbClr val="5B7C99"/>
            </a:solidFill>
            <a:prstDash val="solid"/>
            <a:tailEnd type="triangle"/>
          </a:ln>
        </p:spPr>
      </p:sp>
      <p:sp>
        <p:nvSpPr>
          <p:cNvPr id="20" name="Branch tick 2"/>
          <p:cNvSpPr/>
          <p:nvPr/>
        </p:nvSpPr>
        <p:spPr>
          <a:xfrm>
            <a:off x="3520440" y="2606040"/>
            <a:ext cx="0" cy="365760"/>
          </a:xfrm>
          <a:prstGeom prst="line">
            <a:avLst/>
          </a:prstGeom>
          <a:noFill/>
          <a:ln w="25400">
            <a:solidFill>
              <a:srgbClr val="5B7C99"/>
            </a:solidFill>
            <a:prstDash val="solid"/>
            <a:tailEnd type="triangle"/>
          </a:ln>
        </p:spPr>
      </p:sp>
      <p:sp>
        <p:nvSpPr>
          <p:cNvPr id="21" name="Branch tick 3"/>
          <p:cNvSpPr/>
          <p:nvPr/>
        </p:nvSpPr>
        <p:spPr>
          <a:xfrm>
            <a:off x="5623560" y="2606040"/>
            <a:ext cx="0" cy="365760"/>
          </a:xfrm>
          <a:prstGeom prst="line">
            <a:avLst/>
          </a:prstGeom>
          <a:noFill/>
          <a:ln w="25400">
            <a:solidFill>
              <a:srgbClr val="5B7C99"/>
            </a:solidFill>
            <a:prstDash val="solid"/>
            <a:tailEnd type="triangle"/>
          </a:ln>
        </p:spPr>
      </p:sp>
      <p:sp>
        <p:nvSpPr>
          <p:cNvPr id="22" name="Branch tick 4"/>
          <p:cNvSpPr/>
          <p:nvPr/>
        </p:nvSpPr>
        <p:spPr>
          <a:xfrm>
            <a:off x="7726680" y="2606040"/>
            <a:ext cx="0" cy="365760"/>
          </a:xfrm>
          <a:prstGeom prst="line">
            <a:avLst/>
          </a:prstGeom>
          <a:noFill/>
          <a:ln w="25400">
            <a:solidFill>
              <a:srgbClr val="5B7C99"/>
            </a:solidFill>
            <a:prstDash val="solid"/>
            <a:tailEnd type="triangle"/>
          </a:ln>
        </p:spPr>
      </p:sp>
      <p:sp>
        <p:nvSpPr>
          <p:cNvPr id="23" name="Node Audit"/>
          <p:cNvSpPr/>
          <p:nvPr/>
        </p:nvSpPr>
        <p:spPr>
          <a:xfrm>
            <a:off x="457200" y="3017520"/>
            <a:ext cx="1920240" cy="1097280"/>
          </a:xfrm>
          <a:prstGeom prst="roundRect">
            <a:avLst>
              <a:gd name="adj" fmla="val 8333"/>
            </a:avLst>
          </a:prstGeom>
          <a:solidFill>
            <a:srgbClr val="5B7C99"/>
          </a:solidFill>
          <a:ln w="12700">
            <a:solidFill>
              <a:srgbClr val="5B7C99"/>
            </a:solidFill>
            <a:prstDash val="solid"/>
          </a:ln>
        </p:spPr>
      </p:sp>
      <p:sp>
        <p:nvSpPr>
          <p:cNvPr id="24" name="Node Audit text"/>
          <p:cNvSpPr txBox="1"/>
          <p:nvPr/>
        </p:nvSpPr>
        <p:spPr>
          <a:xfrm>
            <a:off x="548640" y="3072384"/>
            <a:ext cx="1737360" cy="987552"/>
          </a:xfrm>
          <a:prstGeom prst="rect">
            <a:avLst/>
          </a:prstGeom>
          <a:noFill/>
          <a:ln/>
        </p:spPr>
        <p:txBody>
          <a:bodyPr wrap="square" lIns="0" tIns="0" rIns="0" bIns="0" rtlCol="0" anchor="ctr"/>
          <a:lstStyle/>
          <a:p>
            <a:pPr algn="ctr" indent="0" marL="0">
              <a:buNone/>
            </a:pPr>
            <a:r>
              <a:rPr lang="en-US" sz="1400" b="1" dirty="0">
                <a:solidFill>
                  <a:srgbClr val="FFFFFF"/>
                </a:solidFill>
              </a:rPr>
              <a:t>Data Audit</a:t>
            </a:r>
            <a:endParaRPr lang="en-US" sz="1400" dirty="0"/>
          </a:p>
          <a:p>
            <a:pPr algn="ctr" indent="0" marL="0">
              <a:buNone/>
            </a:pPr>
            <a:r>
              <a:rPr lang="en-US" sz="1200" dirty="0">
                <a:solidFill>
                  <a:srgbClr val="FFFFFF"/>
                </a:solidFill>
              </a:rPr>
              <a:t>Missing values, ranges, shapes</a:t>
            </a:r>
            <a:endParaRPr lang="en-US" sz="1400" dirty="0"/>
          </a:p>
        </p:txBody>
      </p:sp>
      <p:sp>
        <p:nvSpPr>
          <p:cNvPr id="25" name="Node Distribution"/>
          <p:cNvSpPr/>
          <p:nvPr/>
        </p:nvSpPr>
        <p:spPr>
          <a:xfrm>
            <a:off x="2560320" y="3017520"/>
            <a:ext cx="1920240" cy="1097280"/>
          </a:xfrm>
          <a:prstGeom prst="roundRect">
            <a:avLst>
              <a:gd name="adj" fmla="val 8333"/>
            </a:avLst>
          </a:prstGeom>
          <a:solidFill>
            <a:srgbClr val="5B7C99"/>
          </a:solidFill>
          <a:ln w="12700">
            <a:solidFill>
              <a:srgbClr val="5B7C99"/>
            </a:solidFill>
            <a:prstDash val="solid"/>
          </a:ln>
        </p:spPr>
      </p:sp>
      <p:sp>
        <p:nvSpPr>
          <p:cNvPr id="26" name="Node Distribution text"/>
          <p:cNvSpPr txBox="1"/>
          <p:nvPr/>
        </p:nvSpPr>
        <p:spPr>
          <a:xfrm>
            <a:off x="2651760" y="3072384"/>
            <a:ext cx="1737360" cy="987552"/>
          </a:xfrm>
          <a:prstGeom prst="rect">
            <a:avLst/>
          </a:prstGeom>
          <a:noFill/>
          <a:ln/>
        </p:spPr>
        <p:txBody>
          <a:bodyPr wrap="square" lIns="0" tIns="0" rIns="0" bIns="0" rtlCol="0" anchor="ctr"/>
          <a:lstStyle/>
          <a:p>
            <a:pPr algn="ctr" indent="0" marL="0">
              <a:buNone/>
            </a:pPr>
            <a:r>
              <a:rPr lang="en-US" sz="1400" b="1" dirty="0">
                <a:solidFill>
                  <a:srgbClr val="FFFFFF"/>
                </a:solidFill>
              </a:rPr>
              <a:t>Distribution</a:t>
            </a:r>
            <a:endParaRPr lang="en-US" sz="1400" dirty="0"/>
          </a:p>
          <a:p>
            <a:pPr algn="ctr" indent="0" marL="0">
              <a:buNone/>
            </a:pPr>
            <a:r>
              <a:rPr lang="en-US" sz="1200" dirty="0">
                <a:solidFill>
                  <a:srgbClr val="FFFFFF"/>
                </a:solidFill>
              </a:rPr>
              <a:t>Churn %, Contract with churn overlay</a:t>
            </a:r>
            <a:endParaRPr lang="en-US" sz="1400" dirty="0"/>
          </a:p>
        </p:txBody>
      </p:sp>
      <p:sp>
        <p:nvSpPr>
          <p:cNvPr id="27" name="Node Matrix"/>
          <p:cNvSpPr/>
          <p:nvPr/>
        </p:nvSpPr>
        <p:spPr>
          <a:xfrm>
            <a:off x="4663440" y="3017520"/>
            <a:ext cx="1920240" cy="1097280"/>
          </a:xfrm>
          <a:prstGeom prst="roundRect">
            <a:avLst>
              <a:gd name="adj" fmla="val 8333"/>
            </a:avLst>
          </a:prstGeom>
          <a:solidFill>
            <a:srgbClr val="5B7C99"/>
          </a:solidFill>
          <a:ln w="12700">
            <a:solidFill>
              <a:srgbClr val="5B7C99"/>
            </a:solidFill>
            <a:prstDash val="solid"/>
          </a:ln>
        </p:spPr>
      </p:sp>
      <p:sp>
        <p:nvSpPr>
          <p:cNvPr id="28" name="Node Matrix text"/>
          <p:cNvSpPr txBox="1"/>
          <p:nvPr/>
        </p:nvSpPr>
        <p:spPr>
          <a:xfrm>
            <a:off x="4754880" y="3072384"/>
            <a:ext cx="1737360" cy="987552"/>
          </a:xfrm>
          <a:prstGeom prst="rect">
            <a:avLst/>
          </a:prstGeom>
          <a:noFill/>
          <a:ln/>
        </p:spPr>
        <p:txBody>
          <a:bodyPr wrap="square" lIns="0" tIns="0" rIns="0" bIns="0" rtlCol="0" anchor="ctr"/>
          <a:lstStyle/>
          <a:p>
            <a:pPr algn="ctr" indent="0" marL="0">
              <a:buNone/>
            </a:pPr>
            <a:r>
              <a:rPr lang="en-US" sz="1400" b="1" dirty="0">
                <a:solidFill>
                  <a:srgbClr val="FFFFFF"/>
                </a:solidFill>
              </a:rPr>
              <a:t>Matrix</a:t>
            </a:r>
            <a:endParaRPr lang="en-US" sz="1400" dirty="0"/>
          </a:p>
          <a:p>
            <a:pPr algn="ctr" indent="0" marL="0">
              <a:buNone/>
            </a:pPr>
            <a:r>
              <a:rPr lang="en-US" sz="1200" dirty="0">
                <a:solidFill>
                  <a:srgbClr val="FFFFFF"/>
                </a:solidFill>
              </a:rPr>
              <a:t>Contract by Churn, chi-square</a:t>
            </a:r>
            <a:endParaRPr lang="en-US" sz="1400" dirty="0"/>
          </a:p>
        </p:txBody>
      </p:sp>
      <p:sp>
        <p:nvSpPr>
          <p:cNvPr id="29" name="Node Means"/>
          <p:cNvSpPr/>
          <p:nvPr/>
        </p:nvSpPr>
        <p:spPr>
          <a:xfrm>
            <a:off x="6766560" y="3017520"/>
            <a:ext cx="1920240" cy="1097280"/>
          </a:xfrm>
          <a:prstGeom prst="roundRect">
            <a:avLst>
              <a:gd name="adj" fmla="val 8333"/>
            </a:avLst>
          </a:prstGeom>
          <a:solidFill>
            <a:srgbClr val="5B7C99"/>
          </a:solidFill>
          <a:ln w="12700">
            <a:solidFill>
              <a:srgbClr val="5B7C99"/>
            </a:solidFill>
            <a:prstDash val="solid"/>
          </a:ln>
        </p:spPr>
      </p:sp>
      <p:sp>
        <p:nvSpPr>
          <p:cNvPr id="30" name="Node Means text"/>
          <p:cNvSpPr txBox="1"/>
          <p:nvPr/>
        </p:nvSpPr>
        <p:spPr>
          <a:xfrm>
            <a:off x="6858000" y="3072384"/>
            <a:ext cx="1737360" cy="987552"/>
          </a:xfrm>
          <a:prstGeom prst="rect">
            <a:avLst/>
          </a:prstGeom>
          <a:noFill/>
          <a:ln/>
        </p:spPr>
        <p:txBody>
          <a:bodyPr wrap="square" lIns="0" tIns="0" rIns="0" bIns="0" rtlCol="0" anchor="ctr"/>
          <a:lstStyle/>
          <a:p>
            <a:pPr algn="ctr" indent="0" marL="0">
              <a:buNone/>
            </a:pPr>
            <a:r>
              <a:rPr lang="en-US" sz="1400" b="1" dirty="0">
                <a:solidFill>
                  <a:srgbClr val="FFFFFF"/>
                </a:solidFill>
              </a:rPr>
              <a:t>Means</a:t>
            </a:r>
            <a:endParaRPr lang="en-US" sz="1400" dirty="0"/>
          </a:p>
          <a:p>
            <a:pPr algn="ctr" indent="0" marL="0">
              <a:buNone/>
            </a:pPr>
            <a:r>
              <a:rPr lang="en-US" sz="1200" dirty="0">
                <a:solidFill>
                  <a:srgbClr val="FFFFFF"/>
                </a:solidFill>
              </a:rPr>
              <a:t>Tenure and charges: churned vs retained</a:t>
            </a:r>
            <a:endParaRPr lang="en-US" sz="1400" dirty="0"/>
          </a:p>
        </p:txBody>
      </p:sp>
      <p:sp>
        <p:nvSpPr>
          <p:cNvPr id="31" name="Stream note"/>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400" i="1" dirty="0">
                <a:solidFill>
                  <a:schemeClr val="accent5"/>
                </a:solidFill>
              </a:rPr>
              <a:t>The stream runs left to right: prepare the data once, then branch out to tests and models.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our final stream</a:t>
            </a:r>
            <a:endParaRPr lang="en-US" sz="3000" dirty="0"/>
          </a:p>
        </p:txBody>
      </p:sp>
      <p:sp>
        <p:nvSpPr>
          <p:cNvPr id="3" name="Screenshot stream frame"/>
          <p:cNvSpPr/>
          <p:nvPr/>
        </p:nvSpPr>
        <p:spPr>
          <a:xfrm>
            <a:off x="1104303" y="1152144"/>
            <a:ext cx="6935394" cy="3227832"/>
          </a:xfrm>
          <a:prstGeom prst="rect">
            <a:avLst/>
          </a:prstGeom>
          <a:solidFill>
            <a:srgbClr val="FFFFFF"/>
          </a:solidFill>
          <a:ln w="12700">
            <a:solidFill>
              <a:srgbClr val="C9D6E0"/>
            </a:solidFill>
            <a:prstDash val="solid"/>
          </a:ln>
        </p:spPr>
      </p:sp>
      <p:pic>
        <p:nvPicPr>
          <p:cNvPr id="4" name="Screenshot stream" descr="Screenshot stream">    </p:cNvPr>
          <p:cNvPicPr>
            <a:picLocks noChangeAspect="1"/>
          </p:cNvPicPr>
          <p:nvPr/>
        </p:nvPicPr>
        <p:blipFill>
          <a:blip r:embed="rId1"/>
          <a:stretch>
            <a:fillRect/>
          </a:stretch>
        </p:blipFill>
        <p:spPr>
          <a:xfrm>
            <a:off x="1140879" y="1188720"/>
            <a:ext cx="6862242" cy="3154680"/>
          </a:xfrm>
          <a:prstGeom prst="rect">
            <a:avLst/>
          </a:prstGeom>
        </p:spPr>
      </p:pic>
      <p:sp>
        <p:nvSpPr>
          <p:cNvPr id="5"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The complete stream in SPSS Modeler: source, Select, Type, Partition, tests and both models with their Analysis nodes.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Data preparation: three nodes</a:t>
            </a:r>
            <a:endParaRPr lang="en-US" sz="3000" dirty="0"/>
          </a:p>
        </p:txBody>
      </p:sp>
      <p:sp>
        <p:nvSpPr>
          <p:cNvPr id="3" name="Prep card 1"/>
          <p:cNvSpPr/>
          <p:nvPr/>
        </p:nvSpPr>
        <p:spPr>
          <a:xfrm>
            <a:off x="457200" y="1234440"/>
            <a:ext cx="2560320" cy="3383280"/>
          </a:xfrm>
          <a:prstGeom prst="roundRect">
            <a:avLst>
              <a:gd name="adj" fmla="val 3571"/>
            </a:avLst>
          </a:prstGeom>
          <a:solidFill>
            <a:schemeClr val="bg2"/>
          </a:solidFill>
          <a:ln w="12700">
            <a:solidFill>
              <a:schemeClr val="bg2"/>
            </a:solidFill>
            <a:prstDash val="solid"/>
          </a:ln>
        </p:spPr>
      </p:sp>
      <p:sp>
        <p:nvSpPr>
          <p:cNvPr id="4" name="Prep badge 1"/>
          <p:cNvSpPr txBox="1"/>
          <p:nvPr/>
        </p:nvSpPr>
        <p:spPr>
          <a:xfrm>
            <a:off x="640080" y="1371600"/>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Prep title 1"/>
          <p:cNvSpPr txBox="1"/>
          <p:nvPr/>
        </p:nvSpPr>
        <p:spPr>
          <a:xfrm>
            <a:off x="1234440" y="137160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Select node</a:t>
            </a:r>
            <a:endParaRPr lang="en-US" sz="1600" dirty="0"/>
          </a:p>
        </p:txBody>
      </p:sp>
      <p:sp>
        <p:nvSpPr>
          <p:cNvPr id="6" name="Prep setting 1"/>
          <p:cNvSpPr txBox="1"/>
          <p:nvPr/>
        </p:nvSpPr>
        <p:spPr>
          <a:xfrm>
            <a:off x="640080" y="1965960"/>
            <a:ext cx="2194560" cy="914400"/>
          </a:xfrm>
          <a:prstGeom prst="rect">
            <a:avLst/>
          </a:prstGeom>
          <a:noFill/>
          <a:ln/>
        </p:spPr>
        <p:txBody>
          <a:bodyPr wrap="square" lIns="0" tIns="0" rIns="0" bIns="0" rtlCol="0" anchor="t"/>
          <a:lstStyle/>
          <a:p>
            <a:pPr indent="0" marL="0">
              <a:buNone/>
            </a:pPr>
            <a:r>
              <a:rPr lang="en-US" sz="1200" b="1" dirty="0">
                <a:solidFill>
                  <a:srgbClr val="1C7C8C"/>
                </a:solidFill>
              </a:rPr>
              <a:t>Setting</a:t>
            </a:r>
            <a:endParaRPr lang="en-US" sz="1200" dirty="0"/>
          </a:p>
          <a:p>
            <a:pPr indent="0" marL="0">
              <a:buNone/>
            </a:pPr>
            <a:r>
              <a:rPr lang="en-US" sz="1300" dirty="0">
                <a:solidFill>
                  <a:srgbClr val="142B40"/>
                </a:solidFill>
              </a:rPr>
              <a:t>Mode: Discard</a:t>
            </a:r>
            <a:endParaRPr lang="en-US" sz="1200" dirty="0"/>
          </a:p>
          <a:p>
            <a:pPr indent="0" marL="0">
              <a:buNone/>
            </a:pPr>
            <a:r>
              <a:rPr lang="en-US" sz="1300" dirty="0">
                <a:solidFill>
                  <a:srgbClr val="142B40"/>
                </a:solidFill>
              </a:rPr>
              <a:t>Condition: @NULL(TotalCharges)</a:t>
            </a:r>
            <a:endParaRPr lang="en-US" sz="1200" dirty="0"/>
          </a:p>
        </p:txBody>
      </p:sp>
      <p:sp>
        <p:nvSpPr>
          <p:cNvPr id="7" name="Prep result 1"/>
          <p:cNvSpPr txBox="1"/>
          <p:nvPr/>
        </p:nvSpPr>
        <p:spPr>
          <a:xfrm>
            <a:off x="640080" y="2926080"/>
            <a:ext cx="2194560" cy="777240"/>
          </a:xfrm>
          <a:prstGeom prst="rect">
            <a:avLst/>
          </a:prstGeom>
          <a:noFill/>
          <a:ln/>
        </p:spPr>
        <p:txBody>
          <a:bodyPr wrap="square" lIns="0" tIns="0" rIns="0" bIns="0" rtlCol="0" anchor="t"/>
          <a:lstStyle/>
          <a:p>
            <a:pPr indent="0" marL="0">
              <a:buNone/>
            </a:pPr>
            <a:r>
              <a:rPr lang="en-US" sz="1200" b="1" dirty="0">
                <a:solidFill>
                  <a:srgbClr val="F26B5B"/>
                </a:solidFill>
              </a:rPr>
              <a:t>Result</a:t>
            </a:r>
            <a:endParaRPr lang="en-US" sz="1200" dirty="0"/>
          </a:p>
          <a:p>
            <a:pPr indent="0" marL="0">
              <a:buNone/>
            </a:pPr>
            <a:r>
              <a:rPr lang="en-US" sz="1300" b="1" dirty="0">
                <a:solidFill>
                  <a:srgbClr val="142B40"/>
                </a:solidFill>
              </a:rPr>
              <a:t>11 blank rows removed: 7,043 to 7,032 records</a:t>
            </a:r>
            <a:endParaRPr lang="en-US" sz="1200" dirty="0"/>
          </a:p>
        </p:txBody>
      </p:sp>
      <p:sp>
        <p:nvSpPr>
          <p:cNvPr id="8" name="Prep why 1"/>
          <p:cNvSpPr txBox="1"/>
          <p:nvPr/>
        </p:nvSpPr>
        <p:spPr>
          <a:xfrm>
            <a:off x="640080" y="3749040"/>
            <a:ext cx="2194560" cy="777240"/>
          </a:xfrm>
          <a:prstGeom prst="rect">
            <a:avLst/>
          </a:prstGeom>
          <a:noFill/>
          <a:ln/>
        </p:spPr>
        <p:txBody>
          <a:bodyPr wrap="square" lIns="0" tIns="0" rIns="0" bIns="0" rtlCol="0" anchor="t"/>
          <a:lstStyle/>
          <a:p>
            <a:pPr indent="0" marL="0">
              <a:buNone/>
            </a:pPr>
            <a:r>
              <a:rPr lang="en-US" sz="1200" i="1" dirty="0">
                <a:solidFill>
                  <a:schemeClr val="accent5"/>
                </a:solidFill>
              </a:rPr>
              <a:t>Blank TotalCharges belong to brand-new customers and would break the models.</a:t>
            </a:r>
            <a:endParaRPr lang="en-US" sz="1200" dirty="0"/>
          </a:p>
        </p:txBody>
      </p:sp>
      <p:sp>
        <p:nvSpPr>
          <p:cNvPr id="9" name="Prep card 2"/>
          <p:cNvSpPr/>
          <p:nvPr/>
        </p:nvSpPr>
        <p:spPr>
          <a:xfrm>
            <a:off x="3291840" y="1234440"/>
            <a:ext cx="2560320" cy="3383280"/>
          </a:xfrm>
          <a:prstGeom prst="roundRect">
            <a:avLst>
              <a:gd name="adj" fmla="val 3571"/>
            </a:avLst>
          </a:prstGeom>
          <a:solidFill>
            <a:schemeClr val="bg2"/>
          </a:solidFill>
          <a:ln w="12700">
            <a:solidFill>
              <a:schemeClr val="bg2"/>
            </a:solidFill>
            <a:prstDash val="solid"/>
          </a:ln>
        </p:spPr>
      </p:sp>
      <p:sp>
        <p:nvSpPr>
          <p:cNvPr id="10" name="Prep badge 2"/>
          <p:cNvSpPr txBox="1"/>
          <p:nvPr/>
        </p:nvSpPr>
        <p:spPr>
          <a:xfrm>
            <a:off x="3474720" y="1371600"/>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Prep title 2"/>
          <p:cNvSpPr txBox="1"/>
          <p:nvPr/>
        </p:nvSpPr>
        <p:spPr>
          <a:xfrm>
            <a:off x="4069080" y="137160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Type node</a:t>
            </a:r>
            <a:endParaRPr lang="en-US" sz="1600" dirty="0"/>
          </a:p>
        </p:txBody>
      </p:sp>
      <p:sp>
        <p:nvSpPr>
          <p:cNvPr id="12" name="Prep setting 2"/>
          <p:cNvSpPr txBox="1"/>
          <p:nvPr/>
        </p:nvSpPr>
        <p:spPr>
          <a:xfrm>
            <a:off x="3474720" y="1965960"/>
            <a:ext cx="2194560" cy="914400"/>
          </a:xfrm>
          <a:prstGeom prst="rect">
            <a:avLst/>
          </a:prstGeom>
          <a:noFill/>
          <a:ln/>
        </p:spPr>
        <p:txBody>
          <a:bodyPr wrap="square" lIns="0" tIns="0" rIns="0" bIns="0" rtlCol="0" anchor="t"/>
          <a:lstStyle/>
          <a:p>
            <a:pPr indent="0" marL="0">
              <a:buNone/>
            </a:pPr>
            <a:r>
              <a:rPr lang="en-US" sz="1200" b="1" dirty="0">
                <a:solidFill>
                  <a:srgbClr val="1C7C8C"/>
                </a:solidFill>
              </a:rPr>
              <a:t>Setting</a:t>
            </a:r>
            <a:endParaRPr lang="en-US" sz="1200" dirty="0"/>
          </a:p>
          <a:p>
            <a:pPr indent="0" marL="0">
              <a:buNone/>
            </a:pPr>
            <a:r>
              <a:rPr lang="en-US" sz="1300" dirty="0">
                <a:solidFill>
                  <a:srgbClr val="142B40"/>
                </a:solidFill>
              </a:rPr>
              <a:t>Churn = Target</a:t>
            </a:r>
            <a:endParaRPr lang="en-US" sz="1200" dirty="0"/>
          </a:p>
          <a:p>
            <a:pPr indent="0" marL="0">
              <a:buNone/>
            </a:pPr>
            <a:r>
              <a:rPr lang="en-US" sz="1300" dirty="0">
                <a:solidFill>
                  <a:srgbClr val="142B40"/>
                </a:solidFill>
              </a:rPr>
              <a:t>customerID = None</a:t>
            </a:r>
            <a:endParaRPr lang="en-US" sz="1200" dirty="0"/>
          </a:p>
          <a:p>
            <a:pPr indent="0" marL="0">
              <a:buNone/>
            </a:pPr>
            <a:r>
              <a:rPr lang="en-US" sz="1300" dirty="0">
                <a:solidFill>
                  <a:srgbClr val="142B40"/>
                </a:solidFill>
              </a:rPr>
              <a:t>SeniorCitizen = Flag</a:t>
            </a:r>
            <a:endParaRPr lang="en-US" sz="1200" dirty="0"/>
          </a:p>
        </p:txBody>
      </p:sp>
      <p:sp>
        <p:nvSpPr>
          <p:cNvPr id="13" name="Prep result 2"/>
          <p:cNvSpPr txBox="1"/>
          <p:nvPr/>
        </p:nvSpPr>
        <p:spPr>
          <a:xfrm>
            <a:off x="3474720" y="2926080"/>
            <a:ext cx="2194560" cy="777240"/>
          </a:xfrm>
          <a:prstGeom prst="rect">
            <a:avLst/>
          </a:prstGeom>
          <a:noFill/>
          <a:ln/>
        </p:spPr>
        <p:txBody>
          <a:bodyPr wrap="square" lIns="0" tIns="0" rIns="0" bIns="0" rtlCol="0" anchor="t"/>
          <a:lstStyle/>
          <a:p>
            <a:pPr indent="0" marL="0">
              <a:buNone/>
            </a:pPr>
            <a:r>
              <a:rPr lang="en-US" sz="1200" b="1" dirty="0">
                <a:solidFill>
                  <a:srgbClr val="F26B5B"/>
                </a:solidFill>
              </a:rPr>
              <a:t>Result</a:t>
            </a:r>
            <a:endParaRPr lang="en-US" sz="1200" dirty="0"/>
          </a:p>
          <a:p>
            <a:pPr indent="0" marL="0">
              <a:buNone/>
            </a:pPr>
            <a:r>
              <a:rPr lang="en-US" sz="1300" b="1" dirty="0">
                <a:solidFill>
                  <a:srgbClr val="142B40"/>
                </a:solidFill>
              </a:rPr>
              <a:t>Every field has the right role and type</a:t>
            </a:r>
            <a:endParaRPr lang="en-US" sz="1200" dirty="0"/>
          </a:p>
        </p:txBody>
      </p:sp>
      <p:sp>
        <p:nvSpPr>
          <p:cNvPr id="14" name="Prep why 2"/>
          <p:cNvSpPr txBox="1"/>
          <p:nvPr/>
        </p:nvSpPr>
        <p:spPr>
          <a:xfrm>
            <a:off x="3474720" y="3749040"/>
            <a:ext cx="2194560" cy="777240"/>
          </a:xfrm>
          <a:prstGeom prst="rect">
            <a:avLst/>
          </a:prstGeom>
          <a:noFill/>
          <a:ln/>
        </p:spPr>
        <p:txBody>
          <a:bodyPr wrap="square" lIns="0" tIns="0" rIns="0" bIns="0" rtlCol="0" anchor="t"/>
          <a:lstStyle/>
          <a:p>
            <a:pPr indent="0" marL="0">
              <a:buNone/>
            </a:pPr>
            <a:r>
              <a:rPr lang="en-US" sz="1200" i="1" dirty="0">
                <a:solidFill>
                  <a:schemeClr val="accent5"/>
                </a:solidFill>
              </a:rPr>
              <a:t>The model knows what to predict and ignores the ID.</a:t>
            </a:r>
            <a:endParaRPr lang="en-US" sz="1200" dirty="0"/>
          </a:p>
        </p:txBody>
      </p:sp>
      <p:sp>
        <p:nvSpPr>
          <p:cNvPr id="15" name="Prep card 3"/>
          <p:cNvSpPr/>
          <p:nvPr/>
        </p:nvSpPr>
        <p:spPr>
          <a:xfrm>
            <a:off x="6126480" y="1234440"/>
            <a:ext cx="2560320" cy="3383280"/>
          </a:xfrm>
          <a:prstGeom prst="roundRect">
            <a:avLst>
              <a:gd name="adj" fmla="val 3571"/>
            </a:avLst>
          </a:prstGeom>
          <a:solidFill>
            <a:schemeClr val="bg2"/>
          </a:solidFill>
          <a:ln w="12700">
            <a:solidFill>
              <a:schemeClr val="bg2"/>
            </a:solidFill>
            <a:prstDash val="solid"/>
          </a:ln>
        </p:spPr>
      </p:sp>
      <p:sp>
        <p:nvSpPr>
          <p:cNvPr id="16" name="Prep badge 3"/>
          <p:cNvSpPr txBox="1"/>
          <p:nvPr/>
        </p:nvSpPr>
        <p:spPr>
          <a:xfrm>
            <a:off x="6309360" y="1371600"/>
            <a:ext cx="457200" cy="457200"/>
          </a:xfrm>
          <a:prstGeom prst="ellipse">
            <a:avLst/>
          </a:prstGeom>
          <a:solidFill>
            <a:srgbClr val="F26B5B"/>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Prep title 3"/>
          <p:cNvSpPr txBox="1"/>
          <p:nvPr/>
        </p:nvSpPr>
        <p:spPr>
          <a:xfrm>
            <a:off x="6903720" y="1371600"/>
            <a:ext cx="1645920" cy="457200"/>
          </a:xfrm>
          <a:prstGeom prst="rect">
            <a:avLst/>
          </a:prstGeom>
          <a:noFill/>
          <a:ln/>
        </p:spPr>
        <p:txBody>
          <a:bodyPr wrap="square" lIns="0" tIns="0" rIns="0" bIns="0" rtlCol="0" anchor="ctr"/>
          <a:lstStyle/>
          <a:p>
            <a:pPr indent="0" marL="0">
              <a:buNone/>
            </a:pPr>
            <a:r>
              <a:rPr lang="en-US" sz="1600" b="1" dirty="0">
                <a:solidFill>
                  <a:schemeClr val="tx2"/>
                </a:solidFill>
              </a:rPr>
              <a:t>Partition node</a:t>
            </a:r>
            <a:endParaRPr lang="en-US" sz="1600" dirty="0"/>
          </a:p>
        </p:txBody>
      </p:sp>
      <p:sp>
        <p:nvSpPr>
          <p:cNvPr id="18" name="Prep setting 3"/>
          <p:cNvSpPr txBox="1"/>
          <p:nvPr/>
        </p:nvSpPr>
        <p:spPr>
          <a:xfrm>
            <a:off x="6309360" y="1965960"/>
            <a:ext cx="2194560" cy="914400"/>
          </a:xfrm>
          <a:prstGeom prst="rect">
            <a:avLst/>
          </a:prstGeom>
          <a:noFill/>
          <a:ln/>
        </p:spPr>
        <p:txBody>
          <a:bodyPr wrap="square" lIns="0" tIns="0" rIns="0" bIns="0" rtlCol="0" anchor="t"/>
          <a:lstStyle/>
          <a:p>
            <a:pPr indent="0" marL="0">
              <a:buNone/>
            </a:pPr>
            <a:r>
              <a:rPr lang="en-US" sz="1200" b="1" dirty="0">
                <a:solidFill>
                  <a:srgbClr val="1C7C8C"/>
                </a:solidFill>
              </a:rPr>
              <a:t>Setting</a:t>
            </a:r>
            <a:endParaRPr lang="en-US" sz="1200" dirty="0"/>
          </a:p>
          <a:p>
            <a:pPr indent="0" marL="0">
              <a:buNone/>
            </a:pPr>
            <a:r>
              <a:rPr lang="en-US" sz="1300" dirty="0">
                <a:solidFill>
                  <a:srgbClr val="142B40"/>
                </a:solidFill>
              </a:rPr>
              <a:t>Training 70%</a:t>
            </a:r>
            <a:endParaRPr lang="en-US" sz="1200" dirty="0"/>
          </a:p>
          <a:p>
            <a:pPr indent="0" marL="0">
              <a:buNone/>
            </a:pPr>
            <a:r>
              <a:rPr lang="en-US" sz="1300" dirty="0">
                <a:solidFill>
                  <a:srgbClr val="142B40"/>
                </a:solidFill>
              </a:rPr>
              <a:t>Testing 30%</a:t>
            </a:r>
            <a:endParaRPr lang="en-US" sz="1200" dirty="0"/>
          </a:p>
        </p:txBody>
      </p:sp>
      <p:sp>
        <p:nvSpPr>
          <p:cNvPr id="19" name="Prep result 3"/>
          <p:cNvSpPr txBox="1"/>
          <p:nvPr/>
        </p:nvSpPr>
        <p:spPr>
          <a:xfrm>
            <a:off x="6309360" y="2926080"/>
            <a:ext cx="2194560" cy="777240"/>
          </a:xfrm>
          <a:prstGeom prst="rect">
            <a:avLst/>
          </a:prstGeom>
          <a:noFill/>
          <a:ln/>
        </p:spPr>
        <p:txBody>
          <a:bodyPr wrap="square" lIns="0" tIns="0" rIns="0" bIns="0" rtlCol="0" anchor="t"/>
          <a:lstStyle/>
          <a:p>
            <a:pPr indent="0" marL="0">
              <a:buNone/>
            </a:pPr>
            <a:r>
              <a:rPr lang="en-US" sz="1200" b="1" dirty="0">
                <a:solidFill>
                  <a:srgbClr val="F26B5B"/>
                </a:solidFill>
              </a:rPr>
              <a:t>Result</a:t>
            </a:r>
            <a:endParaRPr lang="en-US" sz="1200" dirty="0"/>
          </a:p>
          <a:p>
            <a:pPr indent="0" marL="0">
              <a:buNone/>
            </a:pPr>
            <a:r>
              <a:rPr lang="en-US" sz="1300" b="1" dirty="0">
                <a:solidFill>
                  <a:srgbClr val="142B40"/>
                </a:solidFill>
              </a:rPr>
              <a:t>4,901 training and 2,131 testing records</a:t>
            </a:r>
            <a:endParaRPr lang="en-US" sz="1200" dirty="0"/>
          </a:p>
        </p:txBody>
      </p:sp>
      <p:sp>
        <p:nvSpPr>
          <p:cNvPr id="20" name="Prep why 3"/>
          <p:cNvSpPr txBox="1"/>
          <p:nvPr/>
        </p:nvSpPr>
        <p:spPr>
          <a:xfrm>
            <a:off x="6309360" y="3749040"/>
            <a:ext cx="2194560" cy="777240"/>
          </a:xfrm>
          <a:prstGeom prst="rect">
            <a:avLst/>
          </a:prstGeom>
          <a:noFill/>
          <a:ln/>
        </p:spPr>
        <p:txBody>
          <a:bodyPr wrap="square" lIns="0" tIns="0" rIns="0" bIns="0" rtlCol="0" anchor="t"/>
          <a:lstStyle/>
          <a:p>
            <a:pPr indent="0" marL="0">
              <a:buNone/>
            </a:pPr>
            <a:r>
              <a:rPr lang="en-US" sz="1200" i="1" dirty="0">
                <a:solidFill>
                  <a:schemeClr val="accent5"/>
                </a:solidFill>
              </a:rPr>
              <a:t>Models learn on one part and are tested on unseen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Data Audit: is the data clean?</a:t>
            </a:r>
            <a:endParaRPr lang="en-US" sz="3000" dirty="0"/>
          </a:p>
        </p:txBody>
      </p:sp>
      <p:sp>
        <p:nvSpPr>
          <p:cNvPr id="3" name="Audit how card"/>
          <p:cNvSpPr/>
          <p:nvPr/>
        </p:nvSpPr>
        <p:spPr>
          <a:xfrm>
            <a:off x="457200" y="1188720"/>
            <a:ext cx="8229600" cy="868680"/>
          </a:xfrm>
          <a:prstGeom prst="roundRect">
            <a:avLst>
              <a:gd name="adj" fmla="val 10526"/>
            </a:avLst>
          </a:prstGeom>
          <a:solidFill>
            <a:schemeClr val="accent1"/>
          </a:solidFill>
          <a:ln w="12700">
            <a:solidFill>
              <a:schemeClr val="accent1"/>
            </a:solidFill>
            <a:prstDash val="solid"/>
          </a:ln>
        </p:spPr>
      </p:sp>
      <p:sp>
        <p:nvSpPr>
          <p:cNvPr id="4" name="Audit how text"/>
          <p:cNvSpPr txBox="1"/>
          <p:nvPr/>
        </p:nvSpPr>
        <p:spPr>
          <a:xfrm>
            <a:off x="640080" y="1298448"/>
            <a:ext cx="7863840" cy="64922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Output tab, Data Audit node, connected to the Type node, then Run.</a:t>
            </a:r>
            <a:endParaRPr lang="en-US" sz="1200" dirty="0"/>
          </a:p>
        </p:txBody>
      </p:sp>
      <p:graphicFrame>
        <p:nvGraphicFramePr>
          <p:cNvPr id="9" name="Audit table"/>
          <p:cNvGraphicFramePr>
            <a:graphicFrameLocks noGrp="1"/>
          </p:cNvGraphicFramePr>
          <p:nvPr>
            <p:extLst>
              <p:ext uri="{D42A27DB-BD31-4B8C-83A1-F6EECF244321}">
                <p14:modId xmlns:p14="http://schemas.microsoft.com/office/powerpoint/2010/main" val="1579011935"/>
              </p:ext>
            </p:extLst>
          </p:nvPr>
        </p:nvGraphicFramePr>
        <p:xfrm>
          <a:off x="457200" y="2240280"/>
          <a:ext cx="5120640" cy="914400"/>
        </p:xfrm>
        <a:graphic>
          <a:graphicData uri="http://schemas.openxmlformats.org/drawingml/2006/table">
            <a:tbl>
              <a:tblPr/>
              <a:tblGrid>
                <a:gridCol w="1371600"/>
                <a:gridCol w="731520"/>
                <a:gridCol w="822960"/>
                <a:gridCol w="777240"/>
                <a:gridCol w="777240"/>
                <a:gridCol w="640080"/>
              </a:tblGrid>
              <a:tr h="457200">
                <a:tc>
                  <a:txBody>
                    <a:bodyPr/>
                    <a:lstStyle/>
                    <a:p>
                      <a:pPr algn="l" indent="0" marL="0">
                        <a:buNone/>
                      </a:pPr>
                      <a:r>
                        <a:rPr lang="en-US" sz="1300" b="1" dirty="0">
                          <a:solidFill>
                            <a:srgbClr val="FFFFFF"/>
                          </a:solidFill>
                        </a:rPr>
                        <a:t>Field</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Min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Max</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Mean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Std dev</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Skew</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r>
              <a:tr h="457200">
                <a:tc>
                  <a:txBody>
                    <a:bodyPr/>
                    <a:lstStyle/>
                    <a:p>
                      <a:pPr algn="l" indent="0" marL="0">
                        <a:buNone/>
                      </a:pPr>
                      <a:r>
                        <a:rPr lang="en-US" sz="1300" b="1" dirty="0">
                          <a:solidFill>
                            <a:srgbClr val="142B40"/>
                          </a:solidFill>
                        </a:rPr>
                        <a:t>tenure (months)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72</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32.42</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24.55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0.24</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57200">
                <a:tc>
                  <a:txBody>
                    <a:bodyPr/>
                    <a:lstStyle/>
                    <a:p>
                      <a:pPr algn="l" indent="0" marL="0">
                        <a:buNone/>
                      </a:pPr>
                      <a:r>
                        <a:rPr lang="en-US" sz="1300" b="1" dirty="0">
                          <a:solidFill>
                            <a:srgbClr val="142B40"/>
                          </a:solidFill>
                        </a:rPr>
                        <a:t>MonthlyCharges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18.25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118.75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64.80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30.09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-0.22</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l" indent="0" marL="0">
                        <a:buNone/>
                      </a:pPr>
                      <a:r>
                        <a:rPr lang="en-US" sz="1300" b="1" dirty="0">
                          <a:solidFill>
                            <a:srgbClr val="142B40"/>
                          </a:solidFill>
                        </a:rPr>
                        <a:t>TotalCharges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18.80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8,684.80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2,283.30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2,266.77</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0.96</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bl>
          </a:graphicData>
        </a:graphic>
      </p:graphicFrame>
      <p:sp>
        <p:nvSpPr>
          <p:cNvPr id="6" name="Audit valid note"/>
          <p:cNvSpPr txBox="1"/>
          <p:nvPr/>
        </p:nvSpPr>
        <p:spPr>
          <a:xfrm>
            <a:off x="457200" y="4160520"/>
            <a:ext cx="5120640" cy="457200"/>
          </a:xfrm>
          <a:prstGeom prst="rect">
            <a:avLst/>
          </a:prstGeom>
          <a:noFill/>
          <a:ln/>
        </p:spPr>
        <p:txBody>
          <a:bodyPr wrap="square" lIns="0" tIns="0" rIns="0" bIns="0" rtlCol="0" anchor="t"/>
          <a:lstStyle/>
          <a:p>
            <a:pPr indent="0" marL="0">
              <a:buNone/>
            </a:pPr>
            <a:r>
              <a:rPr lang="en-US" sz="1300" b="1" dirty="0">
                <a:solidFill>
                  <a:schemeClr val="accent1"/>
                </a:solidFill>
              </a:rPr>
              <a:t>All 20 fields show 7,032 valid values, so no missing data is left.</a:t>
            </a:r>
            <a:endParaRPr lang="en-US" sz="1300" dirty="0"/>
          </a:p>
        </p:txBody>
      </p:sp>
      <p:sp>
        <p:nvSpPr>
          <p:cNvPr id="7" name="Audit insight card 1"/>
          <p:cNvSpPr/>
          <p:nvPr/>
        </p:nvSpPr>
        <p:spPr>
          <a:xfrm>
            <a:off x="5852160" y="2240280"/>
            <a:ext cx="2834640" cy="713232"/>
          </a:xfrm>
          <a:prstGeom prst="roundRect">
            <a:avLst>
              <a:gd name="adj" fmla="val 12821"/>
            </a:avLst>
          </a:prstGeom>
          <a:solidFill>
            <a:schemeClr val="bg2"/>
          </a:solidFill>
          <a:ln w="12700">
            <a:solidFill>
              <a:schemeClr val="bg2"/>
            </a:solidFill>
            <a:prstDash val="solid"/>
          </a:ln>
        </p:spPr>
      </p:sp>
      <p:sp>
        <p:nvSpPr>
          <p:cNvPr id="8" name="Audit insight text 1"/>
          <p:cNvSpPr txBox="1"/>
          <p:nvPr/>
        </p:nvSpPr>
        <p:spPr>
          <a:xfrm>
            <a:off x="5989320" y="2286000"/>
            <a:ext cx="2560320" cy="621792"/>
          </a:xfrm>
          <a:prstGeom prst="rect">
            <a:avLst/>
          </a:prstGeom>
          <a:noFill/>
          <a:ln/>
        </p:spPr>
        <p:txBody>
          <a:bodyPr wrap="square" lIns="0" tIns="0" rIns="0" bIns="0" rtlCol="0" anchor="ctr"/>
          <a:lstStyle/>
          <a:p>
            <a:pPr indent="0" marL="0">
              <a:buNone/>
            </a:pPr>
            <a:r>
              <a:rPr lang="en-US" sz="1200" b="1" dirty="0">
                <a:solidFill>
                  <a:srgbClr val="1C7C8C"/>
                </a:solidFill>
              </a:rPr>
              <a:t>tenure: </a:t>
            </a:r>
            <a:pPr indent="0" marL="0">
              <a:buNone/>
            </a:pPr>
            <a:r>
              <a:rPr lang="en-US" sz="1200" dirty="0">
                <a:solidFill>
                  <a:srgbClr val="142B40"/>
                </a:solidFill>
              </a:rPr>
              <a:t>U-shaped: many very new and many long-term customers.</a:t>
            </a:r>
            <a:endParaRPr lang="en-US" sz="1200" dirty="0"/>
          </a:p>
        </p:txBody>
      </p:sp>
      <p:sp>
        <p:nvSpPr>
          <p:cNvPr id="9" name="Audit insight card 2"/>
          <p:cNvSpPr/>
          <p:nvPr/>
        </p:nvSpPr>
        <p:spPr>
          <a:xfrm>
            <a:off x="5852160" y="3044952"/>
            <a:ext cx="2834640" cy="713232"/>
          </a:xfrm>
          <a:prstGeom prst="roundRect">
            <a:avLst>
              <a:gd name="adj" fmla="val 12821"/>
            </a:avLst>
          </a:prstGeom>
          <a:solidFill>
            <a:schemeClr val="bg2"/>
          </a:solidFill>
          <a:ln w="12700">
            <a:solidFill>
              <a:schemeClr val="bg2"/>
            </a:solidFill>
            <a:prstDash val="solid"/>
          </a:ln>
        </p:spPr>
      </p:sp>
      <p:sp>
        <p:nvSpPr>
          <p:cNvPr id="10" name="Audit insight text 2"/>
          <p:cNvSpPr txBox="1"/>
          <p:nvPr/>
        </p:nvSpPr>
        <p:spPr>
          <a:xfrm>
            <a:off x="5989320" y="3090672"/>
            <a:ext cx="2560320" cy="621792"/>
          </a:xfrm>
          <a:prstGeom prst="rect">
            <a:avLst/>
          </a:prstGeom>
          <a:noFill/>
          <a:ln/>
        </p:spPr>
        <p:txBody>
          <a:bodyPr wrap="square" lIns="0" tIns="0" rIns="0" bIns="0" rtlCol="0" anchor="ctr"/>
          <a:lstStyle/>
          <a:p>
            <a:pPr indent="0" marL="0">
              <a:buNone/>
            </a:pPr>
            <a:r>
              <a:rPr lang="en-US" sz="1200" b="1" dirty="0">
                <a:solidFill>
                  <a:srgbClr val="1C7C8C"/>
                </a:solidFill>
              </a:rPr>
              <a:t>MonthlyCharges: </a:t>
            </a:r>
            <a:pPr indent="0" marL="0">
              <a:buNone/>
            </a:pPr>
            <a:r>
              <a:rPr lang="en-US" sz="1200" dirty="0">
                <a:solidFill>
                  <a:srgbClr val="142B40"/>
                </a:solidFill>
              </a:rPr>
              <a:t>Two clusters: low phone-only plans and high internet plans.</a:t>
            </a:r>
            <a:endParaRPr lang="en-US" sz="1200" dirty="0"/>
          </a:p>
        </p:txBody>
      </p:sp>
      <p:sp>
        <p:nvSpPr>
          <p:cNvPr id="11" name="Audit insight card 3"/>
          <p:cNvSpPr/>
          <p:nvPr/>
        </p:nvSpPr>
        <p:spPr>
          <a:xfrm>
            <a:off x="5852160" y="3849624"/>
            <a:ext cx="2834640" cy="713232"/>
          </a:xfrm>
          <a:prstGeom prst="roundRect">
            <a:avLst>
              <a:gd name="adj" fmla="val 12821"/>
            </a:avLst>
          </a:prstGeom>
          <a:solidFill>
            <a:schemeClr val="bg2"/>
          </a:solidFill>
          <a:ln w="12700">
            <a:solidFill>
              <a:schemeClr val="bg2"/>
            </a:solidFill>
            <a:prstDash val="solid"/>
          </a:ln>
        </p:spPr>
      </p:sp>
      <p:sp>
        <p:nvSpPr>
          <p:cNvPr id="12" name="Audit insight text 3"/>
          <p:cNvSpPr txBox="1"/>
          <p:nvPr/>
        </p:nvSpPr>
        <p:spPr>
          <a:xfrm>
            <a:off x="5989320" y="3895344"/>
            <a:ext cx="2560320" cy="621792"/>
          </a:xfrm>
          <a:prstGeom prst="rect">
            <a:avLst/>
          </a:prstGeom>
          <a:noFill/>
          <a:ln/>
        </p:spPr>
        <p:txBody>
          <a:bodyPr wrap="square" lIns="0" tIns="0" rIns="0" bIns="0" rtlCol="0" anchor="ctr"/>
          <a:lstStyle/>
          <a:p>
            <a:pPr indent="0" marL="0">
              <a:buNone/>
            </a:pPr>
            <a:r>
              <a:rPr lang="en-US" sz="1200" b="1" dirty="0">
                <a:solidFill>
                  <a:srgbClr val="1C7C8C"/>
                </a:solidFill>
              </a:rPr>
              <a:t>TotalCharges: </a:t>
            </a:r>
            <a:pPr indent="0" marL="0">
              <a:buNone/>
            </a:pPr>
            <a:r>
              <a:rPr lang="en-US" sz="1200" dirty="0">
                <a:solidFill>
                  <a:srgbClr val="142B40"/>
                </a:solidFill>
              </a:rPr>
              <a:t>Right-skewed (0.96): most totals are small, a few are very large.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Data Audit output</a:t>
            </a:r>
            <a:endParaRPr lang="en-US" sz="3000" dirty="0"/>
          </a:p>
        </p:txBody>
      </p:sp>
      <p:sp>
        <p:nvSpPr>
          <p:cNvPr id="3" name="Screenshot audit1 frame"/>
          <p:cNvSpPr/>
          <p:nvPr/>
        </p:nvSpPr>
        <p:spPr>
          <a:xfrm>
            <a:off x="420624" y="1454640"/>
            <a:ext cx="4096512" cy="2622839"/>
          </a:xfrm>
          <a:prstGeom prst="rect">
            <a:avLst/>
          </a:prstGeom>
          <a:solidFill>
            <a:srgbClr val="FFFFFF"/>
          </a:solidFill>
          <a:ln w="12700">
            <a:solidFill>
              <a:srgbClr val="C9D6E0"/>
            </a:solidFill>
            <a:prstDash val="solid"/>
          </a:ln>
        </p:spPr>
      </p:sp>
      <p:pic>
        <p:nvPicPr>
          <p:cNvPr id="4" name="Screenshot audit1" descr="Screenshot audit1">    </p:cNvPr>
          <p:cNvPicPr>
            <a:picLocks noChangeAspect="1"/>
          </p:cNvPicPr>
          <p:nvPr/>
        </p:nvPicPr>
        <p:blipFill>
          <a:blip r:embed="rId1"/>
          <a:stretch>
            <a:fillRect/>
          </a:stretch>
        </p:blipFill>
        <p:spPr>
          <a:xfrm>
            <a:off x="457200" y="1491216"/>
            <a:ext cx="4023360" cy="2549687"/>
          </a:xfrm>
          <a:prstGeom prst="rect">
            <a:avLst/>
          </a:prstGeom>
        </p:spPr>
      </p:pic>
      <p:sp>
        <p:nvSpPr>
          <p:cNvPr id="5" name="Screenshot audit2 frame"/>
          <p:cNvSpPr/>
          <p:nvPr/>
        </p:nvSpPr>
        <p:spPr>
          <a:xfrm>
            <a:off x="4626864" y="1392529"/>
            <a:ext cx="4096512" cy="2747062"/>
          </a:xfrm>
          <a:prstGeom prst="rect">
            <a:avLst/>
          </a:prstGeom>
          <a:solidFill>
            <a:srgbClr val="FFFFFF"/>
          </a:solidFill>
          <a:ln w="12700">
            <a:solidFill>
              <a:srgbClr val="C9D6E0"/>
            </a:solidFill>
            <a:prstDash val="solid"/>
          </a:ln>
        </p:spPr>
      </p:sp>
      <p:pic>
        <p:nvPicPr>
          <p:cNvPr id="6" name="Screenshot audit2" descr="Screenshot audit2">    </p:cNvPr>
          <p:cNvPicPr>
            <a:picLocks noChangeAspect="1"/>
          </p:cNvPicPr>
          <p:nvPr/>
        </p:nvPicPr>
        <p:blipFill>
          <a:blip r:embed="rId2"/>
          <a:stretch>
            <a:fillRect/>
          </a:stretch>
        </p:blipFill>
        <p:spPr>
          <a:xfrm>
            <a:off x="4663440" y="1429105"/>
            <a:ext cx="4023360" cy="2673910"/>
          </a:xfrm>
          <a:prstGeom prst="rect">
            <a:avLst/>
          </a:prstGeom>
        </p:spPr>
      </p:pic>
      <p:sp>
        <p:nvSpPr>
          <p:cNvPr id="7"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Data Audit result: every field has 7,032 valid values, and the numeric summaries match the table on the previous slide.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Churn rate: how many customers left?</a:t>
            </a:r>
            <a:endParaRPr lang="en-US" sz="3000" dirty="0"/>
          </a:p>
        </p:txBody>
      </p:sp>
      <p:sp>
        <p:nvSpPr>
          <p:cNvPr id="3" name="Churn how card"/>
          <p:cNvSpPr/>
          <p:nvPr/>
        </p:nvSpPr>
        <p:spPr>
          <a:xfrm>
            <a:off x="457200" y="1188720"/>
            <a:ext cx="8229600" cy="868680"/>
          </a:xfrm>
          <a:prstGeom prst="roundRect">
            <a:avLst>
              <a:gd name="adj" fmla="val 10526"/>
            </a:avLst>
          </a:prstGeom>
          <a:solidFill>
            <a:schemeClr val="accent1"/>
          </a:solidFill>
          <a:ln w="12700">
            <a:solidFill>
              <a:schemeClr val="accent1"/>
            </a:solidFill>
            <a:prstDash val="solid"/>
          </a:ln>
        </p:spPr>
      </p:sp>
      <p:sp>
        <p:nvSpPr>
          <p:cNvPr id="4" name="Churn how text"/>
          <p:cNvSpPr txBox="1"/>
          <p:nvPr/>
        </p:nvSpPr>
        <p:spPr>
          <a:xfrm>
            <a:off x="640080" y="1298448"/>
            <a:ext cx="7863840" cy="64922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Graphs tab, Distribution node, Field = Churn, then Run.</a:t>
            </a:r>
            <a:endParaRPr lang="en-US" sz="1200" dirty="0"/>
          </a:p>
        </p:txBody>
      </p:sp>
      <p:graphicFrame>
        <p:nvGraphicFramePr>
          <p:cNvPr id="5" name="Chart 0" descr=""/>
          <p:cNvGraphicFramePr/>
          <p:nvPr/>
        </p:nvGraphicFramePr>
        <p:xfrm>
          <a:off x="457200" y="2194560"/>
          <a:ext cx="3840480" cy="2468880"/>
        </p:xfrm>
        <a:graphic xmlns:a="http://schemas.openxmlformats.org/drawingml/2006/main">
          <a:graphicData uri="http://schemas.openxmlformats.org/drawingml/2006/chart">
            <c:chart xmlns:c="http://schemas.openxmlformats.org/drawingml/2006/chart" r:id="rId1"/>
          </a:graphicData>
        </a:graphic>
      </p:graphicFrame>
      <p:sp>
        <p:nvSpPr>
          <p:cNvPr id="6" name="Churn stat"/>
          <p:cNvSpPr txBox="1"/>
          <p:nvPr/>
        </p:nvSpPr>
        <p:spPr>
          <a:xfrm>
            <a:off x="4572000" y="2194560"/>
            <a:ext cx="411480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26.58%</a:t>
            </a:r>
            <a:endParaRPr lang="en-US" sz="5400" dirty="0"/>
          </a:p>
        </p:txBody>
      </p:sp>
      <p:sp>
        <p:nvSpPr>
          <p:cNvPr id="7" name="Churn stat label"/>
          <p:cNvSpPr txBox="1"/>
          <p:nvPr/>
        </p:nvSpPr>
        <p:spPr>
          <a:xfrm>
            <a:off x="4572000" y="3017520"/>
            <a:ext cx="4114800" cy="365760"/>
          </a:xfrm>
          <a:prstGeom prst="rect">
            <a:avLst/>
          </a:prstGeom>
          <a:noFill/>
          <a:ln/>
        </p:spPr>
        <p:txBody>
          <a:bodyPr wrap="square" lIns="0" tIns="0" rIns="0" bIns="0" rtlCol="0" anchor="t"/>
          <a:lstStyle/>
          <a:p>
            <a:pPr indent="0" marL="0">
              <a:buNone/>
            </a:pPr>
            <a:r>
              <a:rPr lang="en-US" sz="1400" dirty="0">
                <a:solidFill>
                  <a:schemeClr val="tx1"/>
                </a:solidFill>
              </a:rPr>
              <a:t>1,869 churned, 5,163 retained (7,032 customers)</a:t>
            </a:r>
            <a:endParaRPr lang="en-US" sz="1400" dirty="0"/>
          </a:p>
        </p:txBody>
      </p:sp>
      <p:sp>
        <p:nvSpPr>
          <p:cNvPr id="8" name="Churn insight card"/>
          <p:cNvSpPr/>
          <p:nvPr/>
        </p:nvSpPr>
        <p:spPr>
          <a:xfrm>
            <a:off x="4572000" y="3520440"/>
            <a:ext cx="4114800" cy="1097280"/>
          </a:xfrm>
          <a:prstGeom prst="roundRect">
            <a:avLst>
              <a:gd name="adj" fmla="val 8333"/>
            </a:avLst>
          </a:prstGeom>
          <a:solidFill>
            <a:schemeClr val="bg2"/>
          </a:solidFill>
          <a:ln w="12700">
            <a:solidFill>
              <a:schemeClr val="bg2"/>
            </a:solidFill>
            <a:prstDash val="solid"/>
          </a:ln>
        </p:spPr>
      </p:sp>
      <p:sp>
        <p:nvSpPr>
          <p:cNvPr id="9" name="Churn insight text"/>
          <p:cNvSpPr txBox="1"/>
          <p:nvPr/>
        </p:nvSpPr>
        <p:spPr>
          <a:xfrm>
            <a:off x="4754880" y="3593592"/>
            <a:ext cx="3749040" cy="950976"/>
          </a:xfrm>
          <a:prstGeom prst="rect">
            <a:avLst/>
          </a:prstGeom>
          <a:noFill/>
          <a:ln/>
        </p:spPr>
        <p:txBody>
          <a:bodyPr wrap="square" lIns="0" tIns="0" rIns="0" bIns="0" rtlCol="0" anchor="ctr"/>
          <a:lstStyle/>
          <a:p>
            <a:pPr indent="0" marL="0">
              <a:buNone/>
            </a:pPr>
            <a:r>
              <a:rPr lang="en-US" sz="1200" b="1" dirty="0">
                <a:solidFill>
                  <a:srgbClr val="1C7C8C"/>
                </a:solidFill>
              </a:rPr>
              <a:t>WHAT IT MEANS  </a:t>
            </a:r>
            <a:pPr indent="0" marL="0">
              <a:buNone/>
            </a:pPr>
            <a:r>
              <a:rPr lang="en-US" sz="1400" dirty="0">
                <a:solidFill>
                  <a:srgbClr val="142B40"/>
                </a:solidFill>
              </a:rPr>
              <a:t>About 1 in 4 customers left. The data is imbalanced (3 stayers for every leaver), so accuracy alone can mislead.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Churn distribution</a:t>
            </a:r>
            <a:endParaRPr lang="en-US" sz="3000" dirty="0"/>
          </a:p>
        </p:txBody>
      </p:sp>
      <p:sp>
        <p:nvSpPr>
          <p:cNvPr id="3" name="Screenshot distchurn frame"/>
          <p:cNvSpPr/>
          <p:nvPr/>
        </p:nvSpPr>
        <p:spPr>
          <a:xfrm>
            <a:off x="420624" y="1773105"/>
            <a:ext cx="5468112" cy="1985911"/>
          </a:xfrm>
          <a:prstGeom prst="rect">
            <a:avLst/>
          </a:prstGeom>
          <a:solidFill>
            <a:srgbClr val="FFFFFF"/>
          </a:solidFill>
          <a:ln w="12700">
            <a:solidFill>
              <a:srgbClr val="C9D6E0"/>
            </a:solidFill>
            <a:prstDash val="solid"/>
          </a:ln>
        </p:spPr>
      </p:sp>
      <p:pic>
        <p:nvPicPr>
          <p:cNvPr id="4" name="Screenshot distchurn" descr="Screenshot distchurn">    </p:cNvPr>
          <p:cNvPicPr>
            <a:picLocks noChangeAspect="1"/>
          </p:cNvPicPr>
          <p:nvPr/>
        </p:nvPicPr>
        <p:blipFill>
          <a:blip r:embed="rId1"/>
          <a:stretch>
            <a:fillRect/>
          </a:stretch>
        </p:blipFill>
        <p:spPr>
          <a:xfrm>
            <a:off x="457200" y="1809681"/>
            <a:ext cx="5394960" cy="1912759"/>
          </a:xfrm>
          <a:prstGeom prst="rect">
            <a:avLst/>
          </a:prstGeom>
        </p:spPr>
      </p:pic>
      <p:sp>
        <p:nvSpPr>
          <p:cNvPr id="5" name="Screenshot callout card"/>
          <p:cNvSpPr/>
          <p:nvPr/>
        </p:nvSpPr>
        <p:spPr>
          <a:xfrm>
            <a:off x="6080760" y="1188720"/>
            <a:ext cx="2606040" cy="3154680"/>
          </a:xfrm>
          <a:prstGeom prst="roundRect">
            <a:avLst>
              <a:gd name="adj" fmla="val 3509"/>
            </a:avLst>
          </a:prstGeom>
          <a:solidFill>
            <a:schemeClr val="bg2"/>
          </a:solidFill>
          <a:ln w="12700">
            <a:solidFill>
              <a:schemeClr val="bg2"/>
            </a:solidFill>
            <a:prstDash val="solid"/>
          </a:ln>
        </p:spPr>
      </p:sp>
      <p:sp>
        <p:nvSpPr>
          <p:cNvPr id="6" name="Screenshot callout text"/>
          <p:cNvSpPr txBox="1"/>
          <p:nvPr/>
        </p:nvSpPr>
        <p:spPr>
          <a:xfrm>
            <a:off x="6263640" y="1325880"/>
            <a:ext cx="2286000" cy="2880360"/>
          </a:xfrm>
          <a:prstGeom prst="rect">
            <a:avLst/>
          </a:prstGeom>
          <a:noFill/>
          <a:ln/>
        </p:spPr>
        <p:txBody>
          <a:bodyPr wrap="square" lIns="0" tIns="0" rIns="0" bIns="0" rtlCol="0" anchor="ctr"/>
          <a:lstStyle/>
          <a:p>
            <a:pPr indent="0" marL="0">
              <a:spcAft>
                <a:spcPts val="400"/>
              </a:spcAft>
              <a:buNone/>
            </a:pPr>
            <a:r>
              <a:rPr lang="en-US" sz="1200" b="1" dirty="0">
                <a:solidFill>
                  <a:srgbClr val="1C7C8C"/>
                </a:solidFill>
              </a:rPr>
              <a:t>WHAT TO NOTICE</a:t>
            </a:r>
            <a:endParaRPr lang="en-US" sz="1200" dirty="0"/>
          </a:p>
          <a:p>
            <a:pPr marL="342900" indent="-342900">
              <a:spcAft>
                <a:spcPts val="600"/>
              </a:spcAft>
              <a:buSzPct val="100000"/>
              <a:buChar char="•"/>
            </a:pPr>
            <a:r>
              <a:rPr lang="en-US" sz="1400" dirty="0">
                <a:solidFill>
                  <a:srgbClr val="142B40"/>
                </a:solidFill>
              </a:rPr>
              <a:t>No: 73.42% (5,163 customers)</a:t>
            </a:r>
            <a:endParaRPr lang="en-US" sz="1200" dirty="0"/>
          </a:p>
          <a:p>
            <a:pPr marL="342900" indent="-342900">
              <a:spcAft>
                <a:spcPts val="600"/>
              </a:spcAft>
              <a:buSzPct val="100000"/>
              <a:buChar char="•"/>
            </a:pPr>
            <a:r>
              <a:rPr lang="en-US" sz="1400" dirty="0">
                <a:solidFill>
                  <a:srgbClr val="142B40"/>
                </a:solidFill>
              </a:rPr>
              <a:t>Yes: 26.58% (1,869 customers)</a:t>
            </a:r>
            <a:endParaRPr lang="en-US" sz="1200" dirty="0"/>
          </a:p>
          <a:p>
            <a:pPr marL="342900" indent="-342900">
              <a:spcAft>
                <a:spcPts val="600"/>
              </a:spcAft>
              <a:buSzPct val="100000"/>
              <a:buChar char="•"/>
            </a:pPr>
            <a:r>
              <a:rPr lang="en-US" sz="1400" dirty="0">
                <a:solidFill>
                  <a:srgbClr val="142B40"/>
                </a:solidFill>
              </a:rPr>
              <a:t>Imbalanced, about 3 to 1</a:t>
            </a:r>
            <a:endParaRPr lang="en-US" sz="1200" dirty="0"/>
          </a:p>
        </p:txBody>
      </p:sp>
      <p:sp>
        <p:nvSpPr>
          <p:cNvPr id="7"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Distribution node output for Churn.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Contract type vs churn: chi-square test</a:t>
            </a:r>
            <a:endParaRPr lang="en-US" sz="3000" dirty="0"/>
          </a:p>
        </p:txBody>
      </p:sp>
      <p:sp>
        <p:nvSpPr>
          <p:cNvPr id="3" name="Contract how card"/>
          <p:cNvSpPr/>
          <p:nvPr/>
        </p:nvSpPr>
        <p:spPr>
          <a:xfrm>
            <a:off x="457200" y="1188720"/>
            <a:ext cx="8229600" cy="960120"/>
          </a:xfrm>
          <a:prstGeom prst="roundRect">
            <a:avLst>
              <a:gd name="adj" fmla="val 9524"/>
            </a:avLst>
          </a:prstGeom>
          <a:solidFill>
            <a:schemeClr val="accent1"/>
          </a:solidFill>
          <a:ln w="12700">
            <a:solidFill>
              <a:schemeClr val="accent1"/>
            </a:solidFill>
            <a:prstDash val="solid"/>
          </a:ln>
        </p:spPr>
      </p:sp>
      <p:sp>
        <p:nvSpPr>
          <p:cNvPr id="4" name="Contract how text"/>
          <p:cNvSpPr txBox="1"/>
          <p:nvPr/>
        </p:nvSpPr>
        <p:spPr>
          <a:xfrm>
            <a:off x="640080" y="1298448"/>
            <a:ext cx="7863840" cy="74066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Distribution node: Field = Contract, Overlay = Churn.</a:t>
            </a:r>
            <a:endParaRPr lang="en-US" sz="1200" dirty="0"/>
          </a:p>
          <a:p>
            <a:pPr indent="0" marL="0">
              <a:spcBef>
                <a:spcPts val="300"/>
              </a:spcBef>
              <a:buNone/>
            </a:pPr>
            <a:r>
              <a:rPr lang="en-US" sz="1400" dirty="0">
                <a:solidFill>
                  <a:srgbClr val="FFFFFF"/>
                </a:solidFill>
              </a:rPr>
              <a:t>Matrix node: Rows = Contract, Columns = Churn, Cross-tabulations with Expected, Residual and Row %.</a:t>
            </a:r>
            <a:endParaRPr lang="en-US" sz="1200" dirty="0"/>
          </a:p>
        </p:txBody>
      </p:sp>
      <p:graphicFrame>
        <p:nvGraphicFramePr>
          <p:cNvPr id="5" name="Chart 0" descr=""/>
          <p:cNvGraphicFramePr/>
          <p:nvPr/>
        </p:nvGraphicFramePr>
        <p:xfrm>
          <a:off x="457200" y="2286000"/>
          <a:ext cx="4206240" cy="2377440"/>
        </p:xfrm>
        <a:graphic xmlns:a="http://schemas.openxmlformats.org/drawingml/2006/main">
          <a:graphicData uri="http://schemas.openxmlformats.org/drawingml/2006/chart">
            <c:chart xmlns:c="http://schemas.openxmlformats.org/drawingml/2006/chart" r:id="rId1"/>
          </a:graphicData>
        </a:graphic>
      </p:graphicFrame>
      <p:sp>
        <p:nvSpPr>
          <p:cNvPr id="6" name="Hypothesis card"/>
          <p:cNvSpPr/>
          <p:nvPr/>
        </p:nvSpPr>
        <p:spPr>
          <a:xfrm>
            <a:off x="4937760" y="2286000"/>
            <a:ext cx="3749040" cy="2331720"/>
          </a:xfrm>
          <a:prstGeom prst="roundRect">
            <a:avLst>
              <a:gd name="adj" fmla="val 3922"/>
            </a:avLst>
          </a:prstGeom>
          <a:solidFill>
            <a:schemeClr val="bg2"/>
          </a:solidFill>
          <a:ln w="12700">
            <a:solidFill>
              <a:schemeClr val="bg2"/>
            </a:solidFill>
            <a:prstDash val="solid"/>
          </a:ln>
        </p:spPr>
      </p:sp>
      <p:sp>
        <p:nvSpPr>
          <p:cNvPr id="7" name="Hypothesis text"/>
          <p:cNvSpPr txBox="1"/>
          <p:nvPr/>
        </p:nvSpPr>
        <p:spPr>
          <a:xfrm>
            <a:off x="5120640" y="2377440"/>
            <a:ext cx="3383280" cy="2148840"/>
          </a:xfrm>
          <a:prstGeom prst="rect">
            <a:avLst/>
          </a:prstGeom>
          <a:noFill/>
          <a:ln/>
        </p:spPr>
        <p:txBody>
          <a:bodyPr wrap="square" lIns="0" tIns="0" rIns="0" bIns="0" rtlCol="0" anchor="ctr"/>
          <a:lstStyle/>
          <a:p>
            <a:pPr indent="0" marL="0">
              <a:buNone/>
            </a:pPr>
            <a:r>
              <a:rPr lang="en-US" sz="1300" dirty="0">
                <a:solidFill>
                  <a:srgbClr val="142B40"/>
                </a:solidFill>
              </a:rPr>
              <a:t>H0: contract and churn are unrelated</a:t>
            </a:r>
            <a:endParaRPr lang="en-US" sz="1300" dirty="0"/>
          </a:p>
          <a:p>
            <a:pPr indent="0" marL="0">
              <a:spcAft>
                <a:spcPts val="600"/>
              </a:spcAft>
              <a:buNone/>
            </a:pPr>
            <a:r>
              <a:rPr lang="en-US" sz="1300" dirty="0">
                <a:solidFill>
                  <a:srgbClr val="142B40"/>
                </a:solidFill>
              </a:rPr>
              <a:t>H1: contract and churn are related</a:t>
            </a:r>
            <a:endParaRPr lang="en-US" sz="1300" dirty="0"/>
          </a:p>
          <a:p>
            <a:pPr indent="0" marL="0">
              <a:spcAft>
                <a:spcPts val="400"/>
              </a:spcAft>
              <a:buNone/>
            </a:pPr>
            <a:r>
              <a:rPr lang="en-US" sz="1400" b="1" dirty="0">
                <a:solidFill>
                  <a:srgbClr val="1C7C8C"/>
                </a:solidFill>
              </a:rPr>
              <a:t>Chi-square = 1,179.55, df = 2, p &lt; 0.001</a:t>
            </a:r>
            <a:endParaRPr lang="en-US" sz="1300" dirty="0"/>
          </a:p>
          <a:p>
            <a:pPr indent="0" marL="0">
              <a:buNone/>
            </a:pPr>
            <a:r>
              <a:rPr lang="en-US" sz="1300" dirty="0">
                <a:solidFill>
                  <a:srgbClr val="142B40"/>
                </a:solidFill>
              </a:rPr>
              <a:t>p is far below 0.05, so we reject H0. Cramér's V ≈ 0.41 shows a moderate-to-strong link.</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Reading the Matrix output</a:t>
            </a:r>
            <a:endParaRPr lang="en-US" sz="3000" dirty="0"/>
          </a:p>
        </p:txBody>
      </p:sp>
      <p:graphicFrame>
        <p:nvGraphicFramePr>
          <p:cNvPr id="14" name="Crosstab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1188720"/>
                <a:gridCol w="1188720"/>
                <a:gridCol w="1188720"/>
                <a:gridCol w="1645920"/>
                <a:gridCol w="1188720"/>
              </a:tblGrid>
              <a:tr h="502920">
                <a:tc>
                  <a:txBody>
                    <a:bodyPr/>
                    <a:lstStyle/>
                    <a:p>
                      <a:pPr algn="l" indent="0" marL="0">
                        <a:buNone/>
                      </a:pPr>
                      <a:r>
                        <a:rPr lang="en-US" sz="1300" b="1" dirty="0">
                          <a:solidFill>
                            <a:srgbClr val="FFFFFF"/>
                          </a:solidFill>
                        </a:rPr>
                        <a:t>Contract</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Retained</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Churned</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Churn %</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Expected churned</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Residual</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r>
              <a:tr h="502920">
                <a:tc>
                  <a:txBody>
                    <a:bodyPr/>
                    <a:lstStyle/>
                    <a:p>
                      <a:pPr algn="l" indent="0" marL="0">
                        <a:buNone/>
                      </a:pPr>
                      <a:r>
                        <a:rPr lang="en-US" sz="1300" b="1" dirty="0">
                          <a:solidFill>
                            <a:srgbClr val="142B40"/>
                          </a:solidFill>
                        </a:rPr>
                        <a:t>Month-to-month</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2,220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1,655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b="1" dirty="0">
                          <a:solidFill>
                            <a:srgbClr val="142B40"/>
                          </a:solidFill>
                        </a:rPr>
                        <a:t>42.71%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1,029.9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b="1" dirty="0">
                          <a:solidFill>
                            <a:srgbClr val="142B40"/>
                          </a:solidFill>
                        </a:rPr>
                        <a:t>+625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502920">
                <a:tc>
                  <a:txBody>
                    <a:bodyPr/>
                    <a:lstStyle/>
                    <a:p>
                      <a:pPr algn="l" indent="0" marL="0">
                        <a:buNone/>
                      </a:pPr>
                      <a:r>
                        <a:rPr lang="en-US" sz="1300" b="1" dirty="0">
                          <a:solidFill>
                            <a:srgbClr val="142B40"/>
                          </a:solidFill>
                        </a:rPr>
                        <a:t>One year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1,306</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166</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b="1" dirty="0">
                          <a:solidFill>
                            <a:srgbClr val="142B40"/>
                          </a:solidFill>
                        </a:rPr>
                        <a:t>11.28%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391.2</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b="1" dirty="0">
                          <a:solidFill>
                            <a:srgbClr val="142B40"/>
                          </a:solidFill>
                        </a:rPr>
                        <a:t>-225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300" b="1" dirty="0">
                          <a:solidFill>
                            <a:srgbClr val="142B40"/>
                          </a:solidFill>
                        </a:rPr>
                        <a:t>Two year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1,637</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48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b="1" dirty="0">
                          <a:solidFill>
                            <a:srgbClr val="142B40"/>
                          </a:solidFill>
                        </a:rPr>
                        <a:t>2.85%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447.8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b="1" dirty="0">
                          <a:solidFill>
                            <a:srgbClr val="142B40"/>
                          </a:solidFill>
                        </a:rPr>
                        <a:t>-400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bl>
          </a:graphicData>
        </a:graphic>
      </p:graphicFrame>
      <p:sp>
        <p:nvSpPr>
          <p:cNvPr id="4" name="Read card 1"/>
          <p:cNvSpPr/>
          <p:nvPr/>
        </p:nvSpPr>
        <p:spPr>
          <a:xfrm>
            <a:off x="457200" y="3520440"/>
            <a:ext cx="2560320" cy="1143000"/>
          </a:xfrm>
          <a:prstGeom prst="roundRect">
            <a:avLst>
              <a:gd name="adj" fmla="val 8000"/>
            </a:avLst>
          </a:prstGeom>
          <a:solidFill>
            <a:schemeClr val="bg2"/>
          </a:solidFill>
          <a:ln w="12700">
            <a:solidFill>
              <a:schemeClr val="bg2"/>
            </a:solidFill>
            <a:prstDash val="solid"/>
          </a:ln>
        </p:spPr>
      </p:sp>
      <p:sp>
        <p:nvSpPr>
          <p:cNvPr id="5" name="Read text 1"/>
          <p:cNvSpPr txBox="1"/>
          <p:nvPr/>
        </p:nvSpPr>
        <p:spPr>
          <a:xfrm>
            <a:off x="594360" y="3584448"/>
            <a:ext cx="2286000" cy="1005840"/>
          </a:xfrm>
          <a:prstGeom prst="rect">
            <a:avLst/>
          </a:prstGeom>
          <a:noFill/>
          <a:ln/>
        </p:spPr>
        <p:txBody>
          <a:bodyPr wrap="square" lIns="0" tIns="0" rIns="0" bIns="0" rtlCol="0" anchor="t"/>
          <a:lstStyle/>
          <a:p>
            <a:pPr indent="0" marL="0">
              <a:buNone/>
            </a:pPr>
            <a:r>
              <a:rPr lang="en-US" sz="1300" b="1" dirty="0">
                <a:solidFill>
                  <a:srgbClr val="1C7C8C"/>
                </a:solidFill>
              </a:rPr>
              <a:t>Expected vs actual</a:t>
            </a:r>
            <a:endParaRPr lang="en-US" sz="1300" dirty="0"/>
          </a:p>
          <a:p>
            <a:pPr indent="0" marL="0">
              <a:buNone/>
            </a:pPr>
            <a:r>
              <a:rPr lang="en-US" sz="1200" dirty="0">
                <a:solidFill>
                  <a:srgbClr val="142B40"/>
                </a:solidFill>
              </a:rPr>
              <a:t>If contract did not matter, 1,030 month-to-month customers would churn. 1,655 actually did.</a:t>
            </a:r>
            <a:endParaRPr lang="en-US" sz="1300" dirty="0"/>
          </a:p>
        </p:txBody>
      </p:sp>
      <p:sp>
        <p:nvSpPr>
          <p:cNvPr id="6" name="Read card 2"/>
          <p:cNvSpPr/>
          <p:nvPr/>
        </p:nvSpPr>
        <p:spPr>
          <a:xfrm>
            <a:off x="3291840" y="3520440"/>
            <a:ext cx="2560320" cy="1143000"/>
          </a:xfrm>
          <a:prstGeom prst="roundRect">
            <a:avLst>
              <a:gd name="adj" fmla="val 8000"/>
            </a:avLst>
          </a:prstGeom>
          <a:solidFill>
            <a:schemeClr val="bg2"/>
          </a:solidFill>
          <a:ln w="12700">
            <a:solidFill>
              <a:schemeClr val="bg2"/>
            </a:solidFill>
            <a:prstDash val="solid"/>
          </a:ln>
        </p:spPr>
      </p:sp>
      <p:sp>
        <p:nvSpPr>
          <p:cNvPr id="7" name="Read text 2"/>
          <p:cNvSpPr txBox="1"/>
          <p:nvPr/>
        </p:nvSpPr>
        <p:spPr>
          <a:xfrm>
            <a:off x="3429000" y="3584448"/>
            <a:ext cx="2286000" cy="1005840"/>
          </a:xfrm>
          <a:prstGeom prst="rect">
            <a:avLst/>
          </a:prstGeom>
          <a:noFill/>
          <a:ln/>
        </p:spPr>
        <p:txBody>
          <a:bodyPr wrap="square" lIns="0" tIns="0" rIns="0" bIns="0" rtlCol="0" anchor="t"/>
          <a:lstStyle/>
          <a:p>
            <a:pPr indent="0" marL="0">
              <a:buNone/>
            </a:pPr>
            <a:r>
              <a:rPr lang="en-US" sz="1300" b="1" dirty="0">
                <a:solidFill>
                  <a:srgbClr val="1C7C8C"/>
                </a:solidFill>
              </a:rPr>
              <a:t>Residual</a:t>
            </a:r>
            <a:endParaRPr lang="en-US" sz="1300" dirty="0"/>
          </a:p>
          <a:p>
            <a:pPr indent="0" marL="0">
              <a:buNone/>
            </a:pPr>
            <a:r>
              <a:rPr lang="en-US" sz="1200" dirty="0">
                <a:solidFill>
                  <a:srgbClr val="142B40"/>
                </a:solidFill>
              </a:rPr>
              <a:t>A positive residual (+625) means more churn than chance. Negative means less.</a:t>
            </a:r>
            <a:endParaRPr lang="en-US" sz="1300" dirty="0"/>
          </a:p>
        </p:txBody>
      </p:sp>
      <p:sp>
        <p:nvSpPr>
          <p:cNvPr id="8" name="Read card 3"/>
          <p:cNvSpPr/>
          <p:nvPr/>
        </p:nvSpPr>
        <p:spPr>
          <a:xfrm>
            <a:off x="6126480" y="3520440"/>
            <a:ext cx="2560320" cy="1143000"/>
          </a:xfrm>
          <a:prstGeom prst="roundRect">
            <a:avLst>
              <a:gd name="adj" fmla="val 8000"/>
            </a:avLst>
          </a:prstGeom>
          <a:solidFill>
            <a:schemeClr val="bg2"/>
          </a:solidFill>
          <a:ln w="12700">
            <a:solidFill>
              <a:schemeClr val="bg2"/>
            </a:solidFill>
            <a:prstDash val="solid"/>
          </a:ln>
        </p:spPr>
      </p:sp>
      <p:sp>
        <p:nvSpPr>
          <p:cNvPr id="9" name="Read text 3"/>
          <p:cNvSpPr txBox="1"/>
          <p:nvPr/>
        </p:nvSpPr>
        <p:spPr>
          <a:xfrm>
            <a:off x="6263640" y="3584448"/>
            <a:ext cx="2286000" cy="1005840"/>
          </a:xfrm>
          <a:prstGeom prst="rect">
            <a:avLst/>
          </a:prstGeom>
          <a:noFill/>
          <a:ln/>
        </p:spPr>
        <p:txBody>
          <a:bodyPr wrap="square" lIns="0" tIns="0" rIns="0" bIns="0" rtlCol="0" anchor="t"/>
          <a:lstStyle/>
          <a:p>
            <a:pPr indent="0" marL="0">
              <a:buNone/>
            </a:pPr>
            <a:r>
              <a:rPr lang="en-US" sz="1300" b="1" dirty="0">
                <a:solidFill>
                  <a:srgbClr val="1C7C8C"/>
                </a:solidFill>
              </a:rPr>
              <a:t>Row %</a:t>
            </a:r>
            <a:endParaRPr lang="en-US" sz="1300" dirty="0"/>
          </a:p>
          <a:p>
            <a:pPr indent="0" marL="0">
              <a:buNone/>
            </a:pPr>
            <a:r>
              <a:rPr lang="en-US" sz="1200" dirty="0">
                <a:solidFill>
                  <a:srgbClr val="142B40"/>
                </a:solidFill>
              </a:rPr>
              <a:t>Month-to-month churn (42.7%) is about 15 times the two-year rate (2.9%).</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Screenshots: Contract and Matrix outputs</a:t>
            </a:r>
            <a:endParaRPr lang="en-US" sz="3000" dirty="0"/>
          </a:p>
        </p:txBody>
      </p:sp>
      <p:sp>
        <p:nvSpPr>
          <p:cNvPr id="3" name="Screenshot distcontract frame"/>
          <p:cNvSpPr/>
          <p:nvPr/>
        </p:nvSpPr>
        <p:spPr>
          <a:xfrm>
            <a:off x="420624" y="1673147"/>
            <a:ext cx="2694432" cy="2185825"/>
          </a:xfrm>
          <a:prstGeom prst="rect">
            <a:avLst/>
          </a:prstGeom>
          <a:solidFill>
            <a:srgbClr val="FFFFFF"/>
          </a:solidFill>
          <a:ln w="12700">
            <a:solidFill>
              <a:srgbClr val="C9D6E0"/>
            </a:solidFill>
            <a:prstDash val="solid"/>
          </a:ln>
        </p:spPr>
      </p:sp>
      <p:pic>
        <p:nvPicPr>
          <p:cNvPr id="4" name="Screenshot distcontract" descr="Screenshot distcontract">    </p:cNvPr>
          <p:cNvPicPr>
            <a:picLocks noChangeAspect="1"/>
          </p:cNvPicPr>
          <p:nvPr/>
        </p:nvPicPr>
        <p:blipFill>
          <a:blip r:embed="rId1"/>
          <a:stretch>
            <a:fillRect/>
          </a:stretch>
        </p:blipFill>
        <p:spPr>
          <a:xfrm>
            <a:off x="457200" y="1709723"/>
            <a:ext cx="2621280" cy="2112673"/>
          </a:xfrm>
          <a:prstGeom prst="rect">
            <a:avLst/>
          </a:prstGeom>
        </p:spPr>
      </p:pic>
      <p:sp>
        <p:nvSpPr>
          <p:cNvPr id="5" name="Screenshot matrix1 frame"/>
          <p:cNvSpPr/>
          <p:nvPr/>
        </p:nvSpPr>
        <p:spPr>
          <a:xfrm>
            <a:off x="3224784" y="1500390"/>
            <a:ext cx="2694432" cy="2531341"/>
          </a:xfrm>
          <a:prstGeom prst="rect">
            <a:avLst/>
          </a:prstGeom>
          <a:solidFill>
            <a:srgbClr val="FFFFFF"/>
          </a:solidFill>
          <a:ln w="12700">
            <a:solidFill>
              <a:srgbClr val="C9D6E0"/>
            </a:solidFill>
            <a:prstDash val="solid"/>
          </a:ln>
        </p:spPr>
      </p:sp>
      <p:pic>
        <p:nvPicPr>
          <p:cNvPr id="6" name="Screenshot matrix1" descr="Screenshot matrix1">    </p:cNvPr>
          <p:cNvPicPr>
            <a:picLocks noChangeAspect="1"/>
          </p:cNvPicPr>
          <p:nvPr/>
        </p:nvPicPr>
        <p:blipFill>
          <a:blip r:embed="rId2"/>
          <a:stretch>
            <a:fillRect/>
          </a:stretch>
        </p:blipFill>
        <p:spPr>
          <a:xfrm>
            <a:off x="3261360" y="1536966"/>
            <a:ext cx="2621280" cy="2458189"/>
          </a:xfrm>
          <a:prstGeom prst="rect">
            <a:avLst/>
          </a:prstGeom>
        </p:spPr>
      </p:pic>
      <p:sp>
        <p:nvSpPr>
          <p:cNvPr id="7" name="Screenshot matrix2 frame"/>
          <p:cNvSpPr/>
          <p:nvPr/>
        </p:nvSpPr>
        <p:spPr>
          <a:xfrm>
            <a:off x="6028944" y="1564743"/>
            <a:ext cx="2694432" cy="2402634"/>
          </a:xfrm>
          <a:prstGeom prst="rect">
            <a:avLst/>
          </a:prstGeom>
          <a:solidFill>
            <a:srgbClr val="FFFFFF"/>
          </a:solidFill>
          <a:ln w="12700">
            <a:solidFill>
              <a:srgbClr val="C9D6E0"/>
            </a:solidFill>
            <a:prstDash val="solid"/>
          </a:ln>
        </p:spPr>
      </p:sp>
      <p:pic>
        <p:nvPicPr>
          <p:cNvPr id="8" name="Screenshot matrix2" descr="Screenshot matrix2">    </p:cNvPr>
          <p:cNvPicPr>
            <a:picLocks noChangeAspect="1"/>
          </p:cNvPicPr>
          <p:nvPr/>
        </p:nvPicPr>
        <p:blipFill>
          <a:blip r:embed="rId3"/>
          <a:stretch>
            <a:fillRect/>
          </a:stretch>
        </p:blipFill>
        <p:spPr>
          <a:xfrm>
            <a:off x="6065520" y="1601319"/>
            <a:ext cx="2621280" cy="2329482"/>
          </a:xfrm>
          <a:prstGeom prst="rect">
            <a:avLst/>
          </a:prstGeom>
        </p:spPr>
      </p:pic>
      <p:sp>
        <p:nvSpPr>
          <p:cNvPr id="9"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Left: Distribution of Contract with Churn overlay. Middle and right: Matrix output with Expected, Residual, Row % and the chi-square line.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T-test: how do churners differ?</a:t>
            </a:r>
            <a:endParaRPr lang="en-US" sz="3000" dirty="0"/>
          </a:p>
        </p:txBody>
      </p:sp>
      <p:sp>
        <p:nvSpPr>
          <p:cNvPr id="3" name="Ttest how card"/>
          <p:cNvSpPr/>
          <p:nvPr/>
        </p:nvSpPr>
        <p:spPr>
          <a:xfrm>
            <a:off x="457200" y="1188720"/>
            <a:ext cx="8229600" cy="868680"/>
          </a:xfrm>
          <a:prstGeom prst="roundRect">
            <a:avLst>
              <a:gd name="adj" fmla="val 10526"/>
            </a:avLst>
          </a:prstGeom>
          <a:solidFill>
            <a:schemeClr val="accent1"/>
          </a:solidFill>
          <a:ln w="12700">
            <a:solidFill>
              <a:schemeClr val="accent1"/>
            </a:solidFill>
            <a:prstDash val="solid"/>
          </a:ln>
        </p:spPr>
      </p:sp>
      <p:sp>
        <p:nvSpPr>
          <p:cNvPr id="4" name="Ttest how text"/>
          <p:cNvSpPr txBox="1"/>
          <p:nvPr/>
        </p:nvSpPr>
        <p:spPr>
          <a:xfrm>
            <a:off x="640080" y="1298448"/>
            <a:ext cx="7863840" cy="64922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Output tab, Means node: Grouping field = Churn, Test fields = tenure and MonthlyCharges.</a:t>
            </a:r>
            <a:endParaRPr lang="en-US" sz="1200" dirty="0"/>
          </a:p>
        </p:txBody>
      </p:sp>
      <p:graphicFrame>
        <p:nvGraphicFramePr>
          <p:cNvPr id="5" name="Chart 0" descr=""/>
          <p:cNvGraphicFramePr/>
          <p:nvPr/>
        </p:nvGraphicFramePr>
        <p:xfrm>
          <a:off x="457200" y="2194560"/>
          <a:ext cx="274320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291840" y="2194560"/>
          <a:ext cx="2743200" cy="2468880"/>
        </p:xfrm>
        <a:graphic xmlns:a="http://schemas.openxmlformats.org/drawingml/2006/main">
          <a:graphicData uri="http://schemas.openxmlformats.org/drawingml/2006/chart">
            <c:chart xmlns:c="http://schemas.openxmlformats.org/drawingml/2006/chart" r:id="rId2"/>
          </a:graphicData>
        </a:graphic>
      </p:graphicFrame>
      <p:sp>
        <p:nvSpPr>
          <p:cNvPr id="7" name="T-test text card"/>
          <p:cNvSpPr/>
          <p:nvPr/>
        </p:nvSpPr>
        <p:spPr>
          <a:xfrm>
            <a:off x="6217920" y="2194560"/>
            <a:ext cx="2468880" cy="2468880"/>
          </a:xfrm>
          <a:prstGeom prst="roundRect">
            <a:avLst>
              <a:gd name="adj" fmla="val 3704"/>
            </a:avLst>
          </a:prstGeom>
          <a:solidFill>
            <a:schemeClr val="bg2"/>
          </a:solidFill>
          <a:ln w="12700">
            <a:solidFill>
              <a:schemeClr val="bg2"/>
            </a:solidFill>
            <a:prstDash val="solid"/>
          </a:ln>
        </p:spPr>
      </p:sp>
      <p:sp>
        <p:nvSpPr>
          <p:cNvPr id="8" name="T-test text"/>
          <p:cNvSpPr txBox="1"/>
          <p:nvPr/>
        </p:nvSpPr>
        <p:spPr>
          <a:xfrm>
            <a:off x="6355080" y="2286000"/>
            <a:ext cx="2194560" cy="2286000"/>
          </a:xfrm>
          <a:prstGeom prst="rect">
            <a:avLst/>
          </a:prstGeom>
          <a:noFill/>
          <a:ln/>
        </p:spPr>
        <p:txBody>
          <a:bodyPr wrap="square" lIns="0" tIns="0" rIns="0" bIns="0" rtlCol="0" anchor="ctr"/>
          <a:lstStyle/>
          <a:p>
            <a:pPr indent="0" marL="0">
              <a:spcAft>
                <a:spcPts val="400"/>
              </a:spcAft>
              <a:buNone/>
            </a:pPr>
            <a:r>
              <a:rPr lang="en-US" sz="1300" dirty="0">
                <a:solidFill>
                  <a:srgbClr val="142B40"/>
                </a:solidFill>
              </a:rPr>
              <a:t>H0: group means are equal</a:t>
            </a:r>
            <a:endParaRPr lang="en-US" sz="1300" dirty="0"/>
          </a:p>
          <a:p>
            <a:pPr indent="0" marL="0">
              <a:spcAft>
                <a:spcPts val="400"/>
              </a:spcAft>
              <a:buNone/>
            </a:pPr>
            <a:r>
              <a:rPr lang="en-US" sz="1300" b="1" dirty="0">
                <a:solidFill>
                  <a:srgbClr val="1C7C8C"/>
                </a:solidFill>
              </a:rPr>
              <a:t>Both differences are significant (p &lt; 0.001; Modeler shows importance 1.000).</a:t>
            </a:r>
            <a:endParaRPr lang="en-US" sz="1300" dirty="0"/>
          </a:p>
          <a:p>
            <a:pPr indent="0" marL="0">
              <a:buNone/>
            </a:pPr>
            <a:r>
              <a:rPr lang="en-US" sz="1300" dirty="0">
                <a:solidFill>
                  <a:srgbClr val="142B40"/>
                </a:solidFill>
              </a:rPr>
              <a:t>Churners stay half as long and pay about 13 more per month.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Means node (T-test)</a:t>
            </a:r>
            <a:endParaRPr lang="en-US" sz="3000" dirty="0"/>
          </a:p>
        </p:txBody>
      </p:sp>
      <p:sp>
        <p:nvSpPr>
          <p:cNvPr id="3" name="Screenshot means frame"/>
          <p:cNvSpPr/>
          <p:nvPr/>
        </p:nvSpPr>
        <p:spPr>
          <a:xfrm>
            <a:off x="1372854" y="1152144"/>
            <a:ext cx="3563653" cy="3227832"/>
          </a:xfrm>
          <a:prstGeom prst="rect">
            <a:avLst/>
          </a:prstGeom>
          <a:solidFill>
            <a:srgbClr val="FFFFFF"/>
          </a:solidFill>
          <a:ln w="12700">
            <a:solidFill>
              <a:srgbClr val="C9D6E0"/>
            </a:solidFill>
            <a:prstDash val="solid"/>
          </a:ln>
        </p:spPr>
      </p:sp>
      <p:pic>
        <p:nvPicPr>
          <p:cNvPr id="4" name="Screenshot means" descr="Screenshot means">    </p:cNvPr>
          <p:cNvPicPr>
            <a:picLocks noChangeAspect="1"/>
          </p:cNvPicPr>
          <p:nvPr/>
        </p:nvPicPr>
        <p:blipFill>
          <a:blip r:embed="rId1"/>
          <a:stretch>
            <a:fillRect/>
          </a:stretch>
        </p:blipFill>
        <p:spPr>
          <a:xfrm>
            <a:off x="1409430" y="1188720"/>
            <a:ext cx="3490501" cy="3154680"/>
          </a:xfrm>
          <a:prstGeom prst="rect">
            <a:avLst/>
          </a:prstGeom>
        </p:spPr>
      </p:pic>
      <p:sp>
        <p:nvSpPr>
          <p:cNvPr id="5" name="Screenshot callout card"/>
          <p:cNvSpPr/>
          <p:nvPr/>
        </p:nvSpPr>
        <p:spPr>
          <a:xfrm>
            <a:off x="6080760" y="1188720"/>
            <a:ext cx="2606040" cy="3154680"/>
          </a:xfrm>
          <a:prstGeom prst="roundRect">
            <a:avLst>
              <a:gd name="adj" fmla="val 3509"/>
            </a:avLst>
          </a:prstGeom>
          <a:solidFill>
            <a:schemeClr val="bg2"/>
          </a:solidFill>
          <a:ln w="12700">
            <a:solidFill>
              <a:schemeClr val="bg2"/>
            </a:solidFill>
            <a:prstDash val="solid"/>
          </a:ln>
        </p:spPr>
      </p:sp>
      <p:sp>
        <p:nvSpPr>
          <p:cNvPr id="6" name="Screenshot callout text"/>
          <p:cNvSpPr txBox="1"/>
          <p:nvPr/>
        </p:nvSpPr>
        <p:spPr>
          <a:xfrm>
            <a:off x="6263640" y="1325880"/>
            <a:ext cx="2286000" cy="2880360"/>
          </a:xfrm>
          <a:prstGeom prst="rect">
            <a:avLst/>
          </a:prstGeom>
          <a:noFill/>
          <a:ln/>
        </p:spPr>
        <p:txBody>
          <a:bodyPr wrap="square" lIns="0" tIns="0" rIns="0" bIns="0" rtlCol="0" anchor="ctr"/>
          <a:lstStyle/>
          <a:p>
            <a:pPr indent="0" marL="0">
              <a:spcAft>
                <a:spcPts val="400"/>
              </a:spcAft>
              <a:buNone/>
            </a:pPr>
            <a:r>
              <a:rPr lang="en-US" sz="1200" b="1" dirty="0">
                <a:solidFill>
                  <a:srgbClr val="1C7C8C"/>
                </a:solidFill>
              </a:rPr>
              <a:t>WHAT TO NOTICE</a:t>
            </a:r>
            <a:endParaRPr lang="en-US" sz="1200" dirty="0"/>
          </a:p>
          <a:p>
            <a:pPr marL="342900" indent="-342900">
              <a:spcAft>
                <a:spcPts val="600"/>
              </a:spcAft>
              <a:buSzPct val="100000"/>
              <a:buChar char="•"/>
            </a:pPr>
            <a:r>
              <a:rPr lang="en-US" sz="1400" dirty="0">
                <a:solidFill>
                  <a:srgbClr val="142B40"/>
                </a:solidFill>
              </a:rPr>
              <a:t>tenure: 37.65 (retained) vs 17.98 (churned)</a:t>
            </a:r>
            <a:endParaRPr lang="en-US" sz="1200" dirty="0"/>
          </a:p>
          <a:p>
            <a:pPr marL="342900" indent="-342900">
              <a:spcAft>
                <a:spcPts val="600"/>
              </a:spcAft>
              <a:buSzPct val="100000"/>
              <a:buChar char="•"/>
            </a:pPr>
            <a:r>
              <a:rPr lang="en-US" sz="1400" dirty="0">
                <a:solidFill>
                  <a:srgbClr val="142B40"/>
                </a:solidFill>
              </a:rPr>
              <a:t>MonthlyCharges: 61.31 vs 74.44</a:t>
            </a:r>
            <a:endParaRPr lang="en-US" sz="1200" dirty="0"/>
          </a:p>
          <a:p>
            <a:pPr marL="342900" indent="-342900">
              <a:spcAft>
                <a:spcPts val="600"/>
              </a:spcAft>
              <a:buSzPct val="100000"/>
              <a:buChar char="•"/>
            </a:pPr>
            <a:r>
              <a:rPr lang="en-US" sz="1400" dirty="0">
                <a:solidFill>
                  <a:srgbClr val="142B40"/>
                </a:solidFill>
              </a:rPr>
              <a:t>Importance 1.000 on both: significant</a:t>
            </a:r>
            <a:endParaRPr lang="en-US" sz="1200" dirty="0"/>
          </a:p>
        </p:txBody>
      </p:sp>
      <p:sp>
        <p:nvSpPr>
          <p:cNvPr id="7"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Means node output, grouped by Churn.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Modelling: two prediction models</a:t>
            </a:r>
            <a:endParaRPr lang="en-US" sz="3000" dirty="0"/>
          </a:p>
        </p:txBody>
      </p:sp>
      <p:sp>
        <p:nvSpPr>
          <p:cNvPr id="3" name="Model card 1"/>
          <p:cNvSpPr/>
          <p:nvPr/>
        </p:nvSpPr>
        <p:spPr>
          <a:xfrm>
            <a:off x="457200" y="1234440"/>
            <a:ext cx="4023360" cy="3383280"/>
          </a:xfrm>
          <a:prstGeom prst="roundRect">
            <a:avLst>
              <a:gd name="adj" fmla="val 2703"/>
            </a:avLst>
          </a:prstGeom>
          <a:solidFill>
            <a:schemeClr val="bg2"/>
          </a:solidFill>
          <a:ln w="12700">
            <a:solidFill>
              <a:schemeClr val="bg2"/>
            </a:solidFill>
            <a:prstDash val="solid"/>
          </a:ln>
        </p:spPr>
      </p:sp>
      <p:sp>
        <p:nvSpPr>
          <p:cNvPr id="4" name="Model badge 1"/>
          <p:cNvSpPr txBox="1"/>
          <p:nvPr/>
        </p:nvSpPr>
        <p:spPr>
          <a:xfrm>
            <a:off x="640080" y="1371600"/>
            <a:ext cx="457200" cy="457200"/>
          </a:xfrm>
          <a:prstGeom prst="ellipse">
            <a:avLst/>
          </a:prstGeom>
          <a:solidFill>
            <a:srgbClr val="1C7C8C"/>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Model title 1"/>
          <p:cNvSpPr txBox="1"/>
          <p:nvPr/>
        </p:nvSpPr>
        <p:spPr>
          <a:xfrm>
            <a:off x="1234440" y="1371600"/>
            <a:ext cx="3108960" cy="457200"/>
          </a:xfrm>
          <a:prstGeom prst="rect">
            <a:avLst/>
          </a:prstGeom>
          <a:noFill/>
          <a:ln/>
        </p:spPr>
        <p:txBody>
          <a:bodyPr wrap="square" lIns="0" tIns="0" rIns="0" bIns="0" rtlCol="0" anchor="ctr"/>
          <a:lstStyle/>
          <a:p>
            <a:pPr indent="0" marL="0">
              <a:buNone/>
            </a:pPr>
            <a:r>
              <a:rPr lang="en-US" sz="1800" b="1" dirty="0">
                <a:solidFill>
                  <a:schemeClr val="tx2"/>
                </a:solidFill>
              </a:rPr>
              <a:t>Logistic Regression</a:t>
            </a:r>
            <a:endParaRPr lang="en-US" sz="1800" dirty="0"/>
          </a:p>
        </p:txBody>
      </p:sp>
      <p:sp>
        <p:nvSpPr>
          <p:cNvPr id="6" name="Model what 1"/>
          <p:cNvSpPr txBox="1"/>
          <p:nvPr/>
        </p:nvSpPr>
        <p:spPr>
          <a:xfrm>
            <a:off x="640080" y="1965960"/>
            <a:ext cx="3657600" cy="777240"/>
          </a:xfrm>
          <a:prstGeom prst="rect">
            <a:avLst/>
          </a:prstGeom>
          <a:noFill/>
          <a:ln/>
        </p:spPr>
        <p:txBody>
          <a:bodyPr wrap="square" lIns="0" tIns="0" rIns="0" bIns="0" rtlCol="0" anchor="t"/>
          <a:lstStyle/>
          <a:p>
            <a:pPr indent="0" marL="0">
              <a:buNone/>
            </a:pPr>
            <a:r>
              <a:rPr lang="en-US" sz="1400" dirty="0">
                <a:solidFill>
                  <a:srgbClr val="142B40"/>
                </a:solidFill>
              </a:rPr>
              <a:t>Estimates the probability that a customer churns from a weighted mix of fields.</a:t>
            </a:r>
            <a:endParaRPr lang="en-US" sz="1400" dirty="0"/>
          </a:p>
        </p:txBody>
      </p:sp>
      <p:sp>
        <p:nvSpPr>
          <p:cNvPr id="7" name="Model how 1"/>
          <p:cNvSpPr txBox="1"/>
          <p:nvPr/>
        </p:nvSpPr>
        <p:spPr>
          <a:xfrm>
            <a:off x="640080" y="2788920"/>
            <a:ext cx="3657600" cy="1188720"/>
          </a:xfrm>
          <a:prstGeom prst="rect">
            <a:avLst/>
          </a:prstGeom>
          <a:noFill/>
          <a:ln/>
        </p:spPr>
        <p:txBody>
          <a:bodyPr wrap="square" lIns="0" tIns="0" rIns="0" bIns="0" rtlCol="0" anchor="t"/>
          <a:lstStyle/>
          <a:p>
            <a:pPr indent="0" marL="0">
              <a:buNone/>
            </a:pPr>
            <a:r>
              <a:rPr lang="en-US" sz="1200" b="1" dirty="0">
                <a:solidFill>
                  <a:srgbClr val="1C7C8C"/>
                </a:solidFill>
              </a:rPr>
              <a:t>HOW IN MODELER</a:t>
            </a:r>
            <a:endParaRPr lang="en-US" sz="1200" dirty="0"/>
          </a:p>
          <a:p>
            <a:pPr marL="342900" indent="-342900">
              <a:spcBef>
                <a:spcPts val="200"/>
              </a:spcBef>
              <a:buSzPct val="100000"/>
              <a:buChar char="•"/>
            </a:pPr>
            <a:r>
              <a:rPr lang="en-US" sz="1300" dirty="0">
                <a:solidFill>
                  <a:srgbClr val="142B40"/>
                </a:solidFill>
              </a:rPr>
              <a:t>Modeling tab, Logistic node</a:t>
            </a:r>
            <a:endParaRPr lang="en-US" sz="1200" dirty="0"/>
          </a:p>
          <a:p>
            <a:pPr marL="342900" indent="-342900">
              <a:spcBef>
                <a:spcPts val="200"/>
              </a:spcBef>
              <a:buSzPct val="100000"/>
              <a:buChar char="•"/>
            </a:pPr>
            <a:r>
              <a:rPr lang="en-US" sz="1300" dirty="0">
                <a:solidFill>
                  <a:srgbClr val="142B40"/>
                </a:solidFill>
              </a:rPr>
              <a:t>Use partitioned data</a:t>
            </a:r>
            <a:endParaRPr lang="en-US" sz="1200" dirty="0"/>
          </a:p>
          <a:p>
            <a:pPr marL="342900" indent="-342900">
              <a:spcBef>
                <a:spcPts val="200"/>
              </a:spcBef>
              <a:buSzPct val="100000"/>
              <a:buChar char="•"/>
            </a:pPr>
            <a:r>
              <a:rPr lang="en-US" sz="1300" dirty="0">
                <a:solidFill>
                  <a:srgbClr val="142B40"/>
                </a:solidFill>
              </a:rPr>
              <a:t>Procedure: Binomial, Method: Enter</a:t>
            </a:r>
            <a:endParaRPr lang="en-US" sz="1200" dirty="0"/>
          </a:p>
        </p:txBody>
      </p:sp>
      <p:sp>
        <p:nvSpPr>
          <p:cNvPr id="8" name="Model why 1"/>
          <p:cNvSpPr txBox="1"/>
          <p:nvPr/>
        </p:nvSpPr>
        <p:spPr>
          <a:xfrm>
            <a:off x="640080" y="4069080"/>
            <a:ext cx="3657600" cy="457200"/>
          </a:xfrm>
          <a:prstGeom prst="rect">
            <a:avLst/>
          </a:prstGeom>
          <a:noFill/>
          <a:ln/>
        </p:spPr>
        <p:txBody>
          <a:bodyPr wrap="square" lIns="0" tIns="0" rIns="0" bIns="0" rtlCol="0" anchor="t"/>
          <a:lstStyle/>
          <a:p>
            <a:pPr indent="0" marL="0">
              <a:buNone/>
            </a:pPr>
            <a:r>
              <a:rPr lang="en-US" sz="1300" i="1" dirty="0">
                <a:solidFill>
                  <a:schemeClr val="accent5"/>
                </a:solidFill>
              </a:rPr>
              <a:t>Why use it: Easy to explain, stable</a:t>
            </a:r>
            <a:endParaRPr lang="en-US" sz="1300" dirty="0"/>
          </a:p>
        </p:txBody>
      </p:sp>
      <p:sp>
        <p:nvSpPr>
          <p:cNvPr id="9" name="Model card 2"/>
          <p:cNvSpPr/>
          <p:nvPr/>
        </p:nvSpPr>
        <p:spPr>
          <a:xfrm>
            <a:off x="4663440" y="1234440"/>
            <a:ext cx="4023360" cy="3383280"/>
          </a:xfrm>
          <a:prstGeom prst="roundRect">
            <a:avLst>
              <a:gd name="adj" fmla="val 2703"/>
            </a:avLst>
          </a:prstGeom>
          <a:solidFill>
            <a:schemeClr val="bg2"/>
          </a:solidFill>
          <a:ln w="12700">
            <a:solidFill>
              <a:schemeClr val="bg2"/>
            </a:solidFill>
            <a:prstDash val="solid"/>
          </a:ln>
        </p:spPr>
      </p:sp>
      <p:sp>
        <p:nvSpPr>
          <p:cNvPr id="10" name="Model badge 2"/>
          <p:cNvSpPr txBox="1"/>
          <p:nvPr/>
        </p:nvSpPr>
        <p:spPr>
          <a:xfrm>
            <a:off x="4846320" y="1371600"/>
            <a:ext cx="457200" cy="457200"/>
          </a:xfrm>
          <a:prstGeom prst="ellipse">
            <a:avLst/>
          </a:prstGeom>
          <a:solidFill>
            <a:srgbClr val="F26B5B"/>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Model title 2"/>
          <p:cNvSpPr txBox="1"/>
          <p:nvPr/>
        </p:nvSpPr>
        <p:spPr>
          <a:xfrm>
            <a:off x="5440680" y="1371600"/>
            <a:ext cx="3108960" cy="457200"/>
          </a:xfrm>
          <a:prstGeom prst="rect">
            <a:avLst/>
          </a:prstGeom>
          <a:noFill/>
          <a:ln/>
        </p:spPr>
        <p:txBody>
          <a:bodyPr wrap="square" lIns="0" tIns="0" rIns="0" bIns="0" rtlCol="0" anchor="ctr"/>
          <a:lstStyle/>
          <a:p>
            <a:pPr indent="0" marL="0">
              <a:buNone/>
            </a:pPr>
            <a:r>
              <a:rPr lang="en-US" sz="1800" b="1" dirty="0">
                <a:solidFill>
                  <a:schemeClr val="tx2"/>
                </a:solidFill>
              </a:rPr>
              <a:t>C5.0 decision tree</a:t>
            </a:r>
            <a:endParaRPr lang="en-US" sz="1800" dirty="0"/>
          </a:p>
        </p:txBody>
      </p:sp>
      <p:sp>
        <p:nvSpPr>
          <p:cNvPr id="12" name="Model what 2"/>
          <p:cNvSpPr txBox="1"/>
          <p:nvPr/>
        </p:nvSpPr>
        <p:spPr>
          <a:xfrm>
            <a:off x="4846320" y="1965960"/>
            <a:ext cx="3657600" cy="777240"/>
          </a:xfrm>
          <a:prstGeom prst="rect">
            <a:avLst/>
          </a:prstGeom>
          <a:noFill/>
          <a:ln/>
        </p:spPr>
        <p:txBody>
          <a:bodyPr wrap="square" lIns="0" tIns="0" rIns="0" bIns="0" rtlCol="0" anchor="t"/>
          <a:lstStyle/>
          <a:p>
            <a:pPr indent="0" marL="0">
              <a:buNone/>
            </a:pPr>
            <a:r>
              <a:rPr lang="en-US" sz="1400" dirty="0">
                <a:solidFill>
                  <a:srgbClr val="142B40"/>
                </a:solidFill>
              </a:rPr>
              <a:t>Splits customers into groups with simple if-then rules, ending in a tree.</a:t>
            </a:r>
            <a:endParaRPr lang="en-US" sz="1400" dirty="0"/>
          </a:p>
        </p:txBody>
      </p:sp>
      <p:sp>
        <p:nvSpPr>
          <p:cNvPr id="13" name="Model how 2"/>
          <p:cNvSpPr txBox="1"/>
          <p:nvPr/>
        </p:nvSpPr>
        <p:spPr>
          <a:xfrm>
            <a:off x="4846320" y="2788920"/>
            <a:ext cx="3657600" cy="1188720"/>
          </a:xfrm>
          <a:prstGeom prst="rect">
            <a:avLst/>
          </a:prstGeom>
          <a:noFill/>
          <a:ln/>
        </p:spPr>
        <p:txBody>
          <a:bodyPr wrap="square" lIns="0" tIns="0" rIns="0" bIns="0" rtlCol="0" anchor="t"/>
          <a:lstStyle/>
          <a:p>
            <a:pPr indent="0" marL="0">
              <a:buNone/>
            </a:pPr>
            <a:r>
              <a:rPr lang="en-US" sz="1200" b="1" dirty="0">
                <a:solidFill>
                  <a:srgbClr val="1C7C8C"/>
                </a:solidFill>
              </a:rPr>
              <a:t>HOW IN MODELER</a:t>
            </a:r>
            <a:endParaRPr lang="en-US" sz="1200" dirty="0"/>
          </a:p>
          <a:p>
            <a:pPr marL="342900" indent="-342900">
              <a:spcBef>
                <a:spcPts val="200"/>
              </a:spcBef>
              <a:buSzPct val="100000"/>
              <a:buChar char="•"/>
            </a:pPr>
            <a:r>
              <a:rPr lang="en-US" sz="1300" dirty="0">
                <a:solidFill>
                  <a:srgbClr val="142B40"/>
                </a:solidFill>
              </a:rPr>
              <a:t>Modeling tab, C5.0 node</a:t>
            </a:r>
            <a:endParaRPr lang="en-US" sz="1200" dirty="0"/>
          </a:p>
          <a:p>
            <a:pPr marL="342900" indent="-342900">
              <a:spcBef>
                <a:spcPts val="200"/>
              </a:spcBef>
              <a:buSzPct val="100000"/>
              <a:buChar char="•"/>
            </a:pPr>
            <a:r>
              <a:rPr lang="en-US" sz="1300" dirty="0">
                <a:solidFill>
                  <a:srgbClr val="142B40"/>
                </a:solidFill>
              </a:rPr>
              <a:t>Use partitioned data</a:t>
            </a:r>
            <a:endParaRPr lang="en-US" sz="1200" dirty="0"/>
          </a:p>
          <a:p>
            <a:pPr marL="342900" indent="-342900">
              <a:spcBef>
                <a:spcPts val="200"/>
              </a:spcBef>
              <a:buSzPct val="100000"/>
              <a:buChar char="•"/>
            </a:pPr>
            <a:r>
              <a:rPr lang="en-US" sz="1300" dirty="0">
                <a:solidFill>
                  <a:srgbClr val="142B40"/>
                </a:solidFill>
              </a:rPr>
              <a:t>Output: Decision tree, Favor: Accuracy</a:t>
            </a:r>
            <a:endParaRPr lang="en-US" sz="1200" dirty="0"/>
          </a:p>
        </p:txBody>
      </p:sp>
      <p:sp>
        <p:nvSpPr>
          <p:cNvPr id="14" name="Model why 2"/>
          <p:cNvSpPr txBox="1"/>
          <p:nvPr/>
        </p:nvSpPr>
        <p:spPr>
          <a:xfrm>
            <a:off x="4846320" y="4069080"/>
            <a:ext cx="3657600" cy="457200"/>
          </a:xfrm>
          <a:prstGeom prst="rect">
            <a:avLst/>
          </a:prstGeom>
          <a:noFill/>
          <a:ln/>
        </p:spPr>
        <p:txBody>
          <a:bodyPr wrap="square" lIns="0" tIns="0" rIns="0" bIns="0" rtlCol="0" anchor="t"/>
          <a:lstStyle/>
          <a:p>
            <a:pPr indent="0" marL="0">
              <a:buNone/>
            </a:pPr>
            <a:r>
              <a:rPr lang="en-US" sz="1300" i="1" dirty="0">
                <a:solidFill>
                  <a:schemeClr val="accent5"/>
                </a:solidFill>
              </a:rPr>
              <a:t>Why use it: Shows the rules visually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Evaluation: confusion matrices</a:t>
            </a:r>
            <a:endParaRPr lang="en-US" sz="3000" dirty="0"/>
          </a:p>
        </p:txBody>
      </p:sp>
      <p:sp>
        <p:nvSpPr>
          <p:cNvPr id="3" name="Eval how card"/>
          <p:cNvSpPr/>
          <p:nvPr/>
        </p:nvSpPr>
        <p:spPr>
          <a:xfrm>
            <a:off x="457200" y="1188720"/>
            <a:ext cx="8229600" cy="868680"/>
          </a:xfrm>
          <a:prstGeom prst="roundRect">
            <a:avLst>
              <a:gd name="adj" fmla="val 10526"/>
            </a:avLst>
          </a:prstGeom>
          <a:solidFill>
            <a:schemeClr val="accent1"/>
          </a:solidFill>
          <a:ln w="12700">
            <a:solidFill>
              <a:schemeClr val="accent1"/>
            </a:solidFill>
            <a:prstDash val="solid"/>
          </a:ln>
        </p:spPr>
      </p:sp>
      <p:sp>
        <p:nvSpPr>
          <p:cNvPr id="4" name="Eval how text"/>
          <p:cNvSpPr txBox="1"/>
          <p:nvPr/>
        </p:nvSpPr>
        <p:spPr>
          <a:xfrm>
            <a:off x="640080" y="1298448"/>
            <a:ext cx="7863840" cy="64922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Output tab, Analysis node after each model nugget, with Coincidence matrices ticked. Below: results on the 2,131 testing records.</a:t>
            </a:r>
            <a:endParaRPr lang="en-US" sz="1200" dirty="0"/>
          </a:p>
        </p:txBody>
      </p:sp>
      <p:sp>
        <p:nvSpPr>
          <p:cNvPr id="5" name="Logistic matrix title"/>
          <p:cNvSpPr txBox="1"/>
          <p:nvPr/>
        </p:nvSpPr>
        <p:spPr>
          <a:xfrm>
            <a:off x="457200" y="2194560"/>
            <a:ext cx="4023360" cy="320040"/>
          </a:xfrm>
          <a:prstGeom prst="rect">
            <a:avLst/>
          </a:prstGeom>
          <a:noFill/>
          <a:ln/>
        </p:spPr>
        <p:txBody>
          <a:bodyPr wrap="square" lIns="0" tIns="0" rIns="0" bIns="0" rtlCol="0" anchor="t"/>
          <a:lstStyle/>
          <a:p>
            <a:pPr indent="0" marL="0">
              <a:buNone/>
            </a:pPr>
            <a:r>
              <a:rPr lang="en-US" sz="1500" b="1" dirty="0">
                <a:solidFill>
                  <a:schemeClr val="tx2"/>
                </a:solidFill>
              </a:rPr>
              <a:t>Logistic Regression</a:t>
            </a:r>
            <a:endParaRPr lang="en-US" sz="1500" dirty="0"/>
          </a:p>
        </p:txBody>
      </p:sp>
      <p:graphicFrame>
        <p:nvGraphicFramePr>
          <p:cNvPr id="19" name="Logistic matrix"/>
          <p:cNvGraphicFramePr>
            <a:graphicFrameLocks noGrp="1"/>
          </p:cNvGraphicFramePr>
          <p:nvPr>
            <p:extLst>
              <p:ext uri="{D42A27DB-BD31-4B8C-83A1-F6EECF244321}">
                <p14:modId xmlns:p14="http://schemas.microsoft.com/office/powerpoint/2010/main" val="1579011935"/>
              </p:ext>
            </p:extLst>
          </p:nvPr>
        </p:nvGraphicFramePr>
        <p:xfrm>
          <a:off x="457200" y="2560320"/>
          <a:ext cx="4023360" cy="914400"/>
        </p:xfrm>
        <a:graphic>
          <a:graphicData uri="http://schemas.openxmlformats.org/drawingml/2006/table">
            <a:tbl>
              <a:tblPr/>
              <a:tblGrid>
                <a:gridCol w="1371600"/>
                <a:gridCol w="1325880"/>
                <a:gridCol w="1325880"/>
              </a:tblGrid>
              <a:tr h="457200">
                <a:tc>
                  <a:txBody>
                    <a:bodyPr/>
                    <a:lstStyle/>
                    <a:p>
                      <a:pPr algn="l" indent="0" marL="0">
                        <a:buNone/>
                      </a:pPr>
                      <a:r>
                        <a:rPr lang="en-US" sz="1300" b="1" dirty="0">
                          <a:solidFill>
                            <a:srgbClr val="FFFFFF"/>
                          </a:solidFill>
                        </a:rPr>
                        <a:t>Actual</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Predicted No</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Predicted Yes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r>
              <a:tr h="457200">
                <a:tc>
                  <a:txBody>
                    <a:bodyPr/>
                    <a:lstStyle/>
                    <a:p>
                      <a:pPr algn="l" indent="0" marL="0">
                        <a:buNone/>
                      </a:pPr>
                      <a:r>
                        <a:rPr lang="en-US" sz="1300" b="1" dirty="0">
                          <a:solidFill>
                            <a:srgbClr val="142B40"/>
                          </a:solidFill>
                        </a:rPr>
                        <a:t>No (1,541)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400" b="1" dirty="0">
                          <a:solidFill>
                            <a:srgbClr val="142B40"/>
                          </a:solidFill>
                        </a:rPr>
                        <a:t>1,350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CFE9ED"/>
                    </a:solidFill>
                  </a:tcPr>
                </a:tc>
                <a:tc>
                  <a:txBody>
                    <a:bodyPr/>
                    <a:lstStyle/>
                    <a:p>
                      <a:pPr algn="ctr" indent="0" marL="0">
                        <a:buNone/>
                      </a:pPr>
                      <a:r>
                        <a:rPr lang="en-US" sz="1300" dirty="0">
                          <a:solidFill>
                            <a:srgbClr val="142B40"/>
                          </a:solidFill>
                        </a:rPr>
                        <a:t>191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57200">
                <a:tc>
                  <a:txBody>
                    <a:bodyPr/>
                    <a:lstStyle/>
                    <a:p>
                      <a:pPr algn="l" indent="0" marL="0">
                        <a:buNone/>
                      </a:pPr>
                      <a:r>
                        <a:rPr lang="en-US" sz="1300" b="1" dirty="0">
                          <a:solidFill>
                            <a:srgbClr val="142B40"/>
                          </a:solidFill>
                        </a:rPr>
                        <a:t>Yes (590)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261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142B40"/>
                          </a:solidFill>
                        </a:rPr>
                        <a:t>329</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BD3CD"/>
                    </a:solidFill>
                  </a:tcPr>
                </a:tc>
              </a:tr>
            </a:tbl>
          </a:graphicData>
        </a:graphic>
      </p:graphicFrame>
      <p:sp>
        <p:nvSpPr>
          <p:cNvPr id="7" name="C5 matrix title"/>
          <p:cNvSpPr txBox="1"/>
          <p:nvPr/>
        </p:nvSpPr>
        <p:spPr>
          <a:xfrm>
            <a:off x="4663440" y="2194560"/>
            <a:ext cx="4023360" cy="320040"/>
          </a:xfrm>
          <a:prstGeom prst="rect">
            <a:avLst/>
          </a:prstGeom>
          <a:noFill/>
          <a:ln/>
        </p:spPr>
        <p:txBody>
          <a:bodyPr wrap="square" lIns="0" tIns="0" rIns="0" bIns="0" rtlCol="0" anchor="t"/>
          <a:lstStyle/>
          <a:p>
            <a:pPr indent="0" marL="0">
              <a:buNone/>
            </a:pPr>
            <a:r>
              <a:rPr lang="en-US" sz="1500" b="1" dirty="0">
                <a:solidFill>
                  <a:schemeClr val="tx2"/>
                </a:solidFill>
              </a:rPr>
              <a:t>C5.0 decision tree</a:t>
            </a:r>
            <a:endParaRPr lang="en-US" sz="1500" dirty="0"/>
          </a:p>
        </p:txBody>
      </p:sp>
      <p:graphicFrame>
        <p:nvGraphicFramePr>
          <p:cNvPr id="37" name="C5 matrix"/>
          <p:cNvGraphicFramePr>
            <a:graphicFrameLocks noGrp="1"/>
          </p:cNvGraphicFramePr>
          <p:nvPr>
            <p:extLst>
              <p:ext uri="{D42A27DB-BD31-4B8C-83A1-F6EECF244321}">
                <p14:modId xmlns:p14="http://schemas.microsoft.com/office/powerpoint/2010/main" val="1579011935"/>
              </p:ext>
            </p:extLst>
          </p:nvPr>
        </p:nvGraphicFramePr>
        <p:xfrm>
          <a:off x="4663440" y="2560320"/>
          <a:ext cx="4023360" cy="914400"/>
        </p:xfrm>
        <a:graphic>
          <a:graphicData uri="http://schemas.openxmlformats.org/drawingml/2006/table">
            <a:tbl>
              <a:tblPr/>
              <a:tblGrid>
                <a:gridCol w="1371600"/>
                <a:gridCol w="1325880"/>
                <a:gridCol w="1325880"/>
              </a:tblGrid>
              <a:tr h="457200">
                <a:tc>
                  <a:txBody>
                    <a:bodyPr/>
                    <a:lstStyle/>
                    <a:p>
                      <a:pPr algn="l" indent="0" marL="0">
                        <a:buNone/>
                      </a:pPr>
                      <a:r>
                        <a:rPr lang="en-US" sz="1300" b="1" dirty="0">
                          <a:solidFill>
                            <a:srgbClr val="FFFFFF"/>
                          </a:solidFill>
                        </a:rPr>
                        <a:t>Actual</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Predicted No</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Predicted Yes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r>
              <a:tr h="457200">
                <a:tc>
                  <a:txBody>
                    <a:bodyPr/>
                    <a:lstStyle/>
                    <a:p>
                      <a:pPr algn="l" indent="0" marL="0">
                        <a:buNone/>
                      </a:pPr>
                      <a:r>
                        <a:rPr lang="en-US" sz="1300" b="1" dirty="0">
                          <a:solidFill>
                            <a:srgbClr val="142B40"/>
                          </a:solidFill>
                        </a:rPr>
                        <a:t>No (1,541)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400" b="1" dirty="0">
                          <a:solidFill>
                            <a:srgbClr val="142B40"/>
                          </a:solidFill>
                        </a:rPr>
                        <a:t>1,345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CFE9ED"/>
                    </a:solidFill>
                  </a:tcPr>
                </a:tc>
                <a:tc>
                  <a:txBody>
                    <a:bodyPr/>
                    <a:lstStyle/>
                    <a:p>
                      <a:pPr algn="ctr" indent="0" marL="0">
                        <a:buNone/>
                      </a:pPr>
                      <a:r>
                        <a:rPr lang="en-US" sz="1300" dirty="0">
                          <a:solidFill>
                            <a:srgbClr val="142B40"/>
                          </a:solidFill>
                        </a:rPr>
                        <a:t>196</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457200">
                <a:tc>
                  <a:txBody>
                    <a:bodyPr/>
                    <a:lstStyle/>
                    <a:p>
                      <a:pPr algn="l" indent="0" marL="0">
                        <a:buNone/>
                      </a:pPr>
                      <a:r>
                        <a:rPr lang="en-US" sz="1300" b="1" dirty="0">
                          <a:solidFill>
                            <a:srgbClr val="142B40"/>
                          </a:solidFill>
                        </a:rPr>
                        <a:t>Yes (590)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271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142B40"/>
                          </a:solidFill>
                        </a:rPr>
                        <a:t>319</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BD3CD"/>
                    </a:solidFill>
                  </a:tcPr>
                </a:tc>
              </a:tr>
            </a:tbl>
          </a:graphicData>
        </a:graphic>
      </p:graphicFrame>
      <p:sp>
        <p:nvSpPr>
          <p:cNvPr id="9" name="Matrix legend"/>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300" i="1" dirty="0">
                <a:solidFill>
                  <a:schemeClr val="accent5"/>
                </a:solidFill>
              </a:rPr>
              <a:t>Blue = correct 'stayed' predictions. Red = churners the model correctly caught.</a:t>
            </a:r>
            <a:endParaRPr lang="en-US" sz="1300" dirty="0"/>
          </a:p>
        </p:txBody>
      </p:sp>
      <p:sp>
        <p:nvSpPr>
          <p:cNvPr id="10" name="Matrix legend 2"/>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300" i="1" dirty="0">
                <a:solidFill>
                  <a:schemeClr val="accent5"/>
                </a:solidFill>
              </a:rPr>
              <a:t>Rows show actual values, columns show what the model predicted.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Screenshots: Analysis node results</a:t>
            </a:r>
            <a:endParaRPr lang="en-US" sz="3000" dirty="0"/>
          </a:p>
        </p:txBody>
      </p:sp>
      <p:sp>
        <p:nvSpPr>
          <p:cNvPr id="3" name="Screenshot analysis_lr frame"/>
          <p:cNvSpPr/>
          <p:nvPr/>
        </p:nvSpPr>
        <p:spPr>
          <a:xfrm>
            <a:off x="431386" y="1152144"/>
            <a:ext cx="4074988" cy="3227832"/>
          </a:xfrm>
          <a:prstGeom prst="rect">
            <a:avLst/>
          </a:prstGeom>
          <a:solidFill>
            <a:srgbClr val="FFFFFF"/>
          </a:solidFill>
          <a:ln w="12700">
            <a:solidFill>
              <a:srgbClr val="C9D6E0"/>
            </a:solidFill>
            <a:prstDash val="solid"/>
          </a:ln>
        </p:spPr>
      </p:sp>
      <p:pic>
        <p:nvPicPr>
          <p:cNvPr id="4" name="Screenshot analysis_lr" descr="Screenshot analysis_lr">    </p:cNvPr>
          <p:cNvPicPr>
            <a:picLocks noChangeAspect="1"/>
          </p:cNvPicPr>
          <p:nvPr/>
        </p:nvPicPr>
        <p:blipFill>
          <a:blip r:embed="rId1"/>
          <a:stretch>
            <a:fillRect/>
          </a:stretch>
        </p:blipFill>
        <p:spPr>
          <a:xfrm>
            <a:off x="467962" y="1188720"/>
            <a:ext cx="4001836" cy="3154680"/>
          </a:xfrm>
          <a:prstGeom prst="rect">
            <a:avLst/>
          </a:prstGeom>
        </p:spPr>
      </p:pic>
      <p:sp>
        <p:nvSpPr>
          <p:cNvPr id="5" name="Screenshot analysis_c5 frame"/>
          <p:cNvSpPr/>
          <p:nvPr/>
        </p:nvSpPr>
        <p:spPr>
          <a:xfrm>
            <a:off x="4668661" y="1152144"/>
            <a:ext cx="4012917" cy="3227832"/>
          </a:xfrm>
          <a:prstGeom prst="rect">
            <a:avLst/>
          </a:prstGeom>
          <a:solidFill>
            <a:srgbClr val="FFFFFF"/>
          </a:solidFill>
          <a:ln w="12700">
            <a:solidFill>
              <a:srgbClr val="C9D6E0"/>
            </a:solidFill>
            <a:prstDash val="solid"/>
          </a:ln>
        </p:spPr>
      </p:sp>
      <p:pic>
        <p:nvPicPr>
          <p:cNvPr id="6" name="Screenshot analysis_c5" descr="Screenshot analysis_c5">    </p:cNvPr>
          <p:cNvPicPr>
            <a:picLocks noChangeAspect="1"/>
          </p:cNvPicPr>
          <p:nvPr/>
        </p:nvPicPr>
        <p:blipFill>
          <a:blip r:embed="rId2"/>
          <a:stretch>
            <a:fillRect/>
          </a:stretch>
        </p:blipFill>
        <p:spPr>
          <a:xfrm>
            <a:off x="4705237" y="1188720"/>
            <a:ext cx="3939765" cy="3154680"/>
          </a:xfrm>
          <a:prstGeom prst="rect">
            <a:avLst/>
          </a:prstGeom>
        </p:spPr>
      </p:pic>
      <p:sp>
        <p:nvSpPr>
          <p:cNvPr id="7"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Left: Logistic Regression (78.79% testing accuracy). Right: C5.0 (78.09% testing accuracy).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Which model is better?</a:t>
            </a:r>
            <a:endParaRPr lang="en-US" sz="3000" dirty="0"/>
          </a:p>
        </p:txBody>
      </p:sp>
      <p:graphicFrame>
        <p:nvGraphicFramePr>
          <p:cNvPr id="21" name="Comparison table"/>
          <p:cNvGraphicFramePr>
            <a:graphicFrameLocks noGrp="1"/>
          </p:cNvGraphicFramePr>
          <p:nvPr>
            <p:extLst>
              <p:ext uri="{D42A27DB-BD31-4B8C-83A1-F6EECF244321}">
                <p14:modId xmlns:p14="http://schemas.microsoft.com/office/powerpoint/2010/main" val="1579011935"/>
              </p:ext>
            </p:extLst>
          </p:nvPr>
        </p:nvGraphicFramePr>
        <p:xfrm>
          <a:off x="457200" y="1280160"/>
          <a:ext cx="5212080" cy="914400"/>
        </p:xfrm>
        <a:graphic>
          <a:graphicData uri="http://schemas.openxmlformats.org/drawingml/2006/table">
            <a:tbl>
              <a:tblPr/>
              <a:tblGrid>
                <a:gridCol w="2651760"/>
                <a:gridCol w="1280160"/>
                <a:gridCol w="1280160"/>
              </a:tblGrid>
              <a:tr h="502920">
                <a:tc>
                  <a:txBody>
                    <a:bodyPr/>
                    <a:lstStyle/>
                    <a:p>
                      <a:pPr algn="l" indent="0" marL="0">
                        <a:buNone/>
                      </a:pPr>
                      <a:r>
                        <a:rPr lang="en-US" sz="1300" b="1" dirty="0">
                          <a:solidFill>
                            <a:srgbClr val="FFFFFF"/>
                          </a:solidFill>
                        </a:rPr>
                        <a:t>Metric</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Logistic</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algn="ctr" indent="0" marL="0">
                        <a:buNone/>
                      </a:pPr>
                      <a:r>
                        <a:rPr lang="en-US" sz="1300" b="1" dirty="0">
                          <a:solidFill>
                            <a:srgbClr val="FFFFFF"/>
                          </a:solidFill>
                        </a:rPr>
                        <a:t>C5.0</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0F2A43"/>
                    </a:solidFill>
                  </a:tcPr>
                </a:tc>
              </a:tr>
              <a:tr h="502920">
                <a:tc>
                  <a:txBody>
                    <a:bodyPr/>
                    <a:lstStyle/>
                    <a:p>
                      <a:pPr algn="l" indent="0" marL="0">
                        <a:buNone/>
                      </a:pPr>
                      <a:r>
                        <a:rPr lang="en-US" sz="1300" b="1" dirty="0">
                          <a:solidFill>
                            <a:srgbClr val="142B40"/>
                          </a:solidFill>
                        </a:rPr>
                        <a:t>Training accuracy</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81.55%</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81.78%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502920">
                <a:tc>
                  <a:txBody>
                    <a:bodyPr/>
                    <a:lstStyle/>
                    <a:p>
                      <a:pPr algn="l" indent="0" marL="0">
                        <a:buNone/>
                      </a:pPr>
                      <a:r>
                        <a:rPr lang="en-US" sz="1300" b="1" dirty="0">
                          <a:solidFill>
                            <a:srgbClr val="142B40"/>
                          </a:solidFill>
                        </a:rPr>
                        <a:t>Testing accuracy</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b="1" dirty="0">
                          <a:solidFill>
                            <a:srgbClr val="142B40"/>
                          </a:solidFill>
                        </a:rPr>
                        <a:t>78.79%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78.09%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l" indent="0" marL="0">
                        <a:buNone/>
                      </a:pPr>
                      <a:r>
                        <a:rPr lang="en-US" sz="1300" b="1" dirty="0">
                          <a:solidFill>
                            <a:srgbClr val="142B40"/>
                          </a:solidFill>
                        </a:rPr>
                        <a:t>Churners caught (recall)</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b="1" dirty="0">
                          <a:solidFill>
                            <a:srgbClr val="142B40"/>
                          </a:solidFill>
                        </a:rPr>
                        <a:t>55.8%</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algn="ctr" indent="0" marL="0">
                        <a:buNone/>
                      </a:pPr>
                      <a:r>
                        <a:rPr lang="en-US" sz="1300" dirty="0">
                          <a:solidFill>
                            <a:srgbClr val="142B40"/>
                          </a:solidFill>
                        </a:rPr>
                        <a:t>54.1%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EEF3F7"/>
                    </a:solidFill>
                  </a:tcPr>
                </a:tc>
              </a:tr>
              <a:tr h="502920">
                <a:tc>
                  <a:txBody>
                    <a:bodyPr/>
                    <a:lstStyle/>
                    <a:p>
                      <a:pPr algn="l" indent="0" marL="0">
                        <a:buNone/>
                      </a:pPr>
                      <a:r>
                        <a:rPr lang="en-US" sz="1300" b="1" dirty="0">
                          <a:solidFill>
                            <a:srgbClr val="142B40"/>
                          </a:solidFill>
                        </a:rPr>
                        <a:t>Churn calls correct (precision)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b="1" dirty="0">
                          <a:solidFill>
                            <a:srgbClr val="142B40"/>
                          </a:solidFill>
                        </a:rPr>
                        <a:t>63.3%</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42B40"/>
                          </a:solidFill>
                        </a:rPr>
                        <a:t>61.9%</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Comparison footnote"/>
          <p:cNvSpPr txBox="1"/>
          <p:nvPr/>
        </p:nvSpPr>
        <p:spPr>
          <a:xfrm>
            <a:off x="457200" y="3931920"/>
            <a:ext cx="5212080" cy="457200"/>
          </a:xfrm>
          <a:prstGeom prst="rect">
            <a:avLst/>
          </a:prstGeom>
          <a:noFill/>
          <a:ln/>
        </p:spPr>
        <p:txBody>
          <a:bodyPr wrap="square" lIns="0" tIns="0" rIns="0" bIns="0" rtlCol="0" anchor="t"/>
          <a:lstStyle/>
          <a:p>
            <a:pPr indent="0" marL="0">
              <a:buNone/>
            </a:pPr>
            <a:r>
              <a:rPr lang="en-US" sz="1200" i="1" dirty="0">
                <a:solidFill>
                  <a:schemeClr val="accent5"/>
                </a:solidFill>
              </a:rPr>
              <a:t>Recall and precision were calculated from the testing confusion matrices.</a:t>
            </a:r>
            <a:endParaRPr lang="en-US" sz="1200" dirty="0"/>
          </a:p>
        </p:txBody>
      </p:sp>
      <p:sp>
        <p:nvSpPr>
          <p:cNvPr id="5" name="Choice card"/>
          <p:cNvSpPr/>
          <p:nvPr/>
        </p:nvSpPr>
        <p:spPr>
          <a:xfrm>
            <a:off x="5943600" y="1280160"/>
            <a:ext cx="2743200" cy="1417320"/>
          </a:xfrm>
          <a:prstGeom prst="roundRect">
            <a:avLst>
              <a:gd name="adj" fmla="val 6452"/>
            </a:avLst>
          </a:prstGeom>
          <a:solidFill>
            <a:srgbClr val="1C7C8C"/>
          </a:solidFill>
          <a:ln w="12700">
            <a:solidFill>
              <a:srgbClr val="1C7C8C"/>
            </a:solidFill>
            <a:prstDash val="solid"/>
          </a:ln>
        </p:spPr>
      </p:sp>
      <p:sp>
        <p:nvSpPr>
          <p:cNvPr id="6" name="Choice text"/>
          <p:cNvSpPr txBox="1"/>
          <p:nvPr/>
        </p:nvSpPr>
        <p:spPr>
          <a:xfrm>
            <a:off x="6080760" y="1371600"/>
            <a:ext cx="2468880" cy="1234440"/>
          </a:xfrm>
          <a:prstGeom prst="rect">
            <a:avLst/>
          </a:prstGeom>
          <a:noFill/>
          <a:ln/>
        </p:spPr>
        <p:txBody>
          <a:bodyPr wrap="square" lIns="0" tIns="0" rIns="0" bIns="0" rtlCol="0" anchor="ctr"/>
          <a:lstStyle/>
          <a:p>
            <a:pPr indent="0" marL="0">
              <a:buNone/>
            </a:pPr>
            <a:r>
              <a:rPr lang="en-US" sz="1300" dirty="0">
                <a:solidFill>
                  <a:srgbClr val="FFFFFF"/>
                </a:solidFill>
              </a:rPr>
              <a:t>Our choice</a:t>
            </a:r>
            <a:endParaRPr lang="en-US" sz="1300" dirty="0"/>
          </a:p>
          <a:p>
            <a:pPr indent="0" marL="0">
              <a:buNone/>
            </a:pPr>
            <a:r>
              <a:rPr lang="en-US" sz="1800" b="1" dirty="0">
                <a:solidFill>
                  <a:srgbClr val="FFFFFF"/>
                </a:solidFill>
              </a:rPr>
              <a:t>Logistic Regression</a:t>
            </a:r>
            <a:endParaRPr lang="en-US" sz="1300" dirty="0"/>
          </a:p>
          <a:p>
            <a:pPr indent="0" marL="0">
              <a:buNone/>
            </a:pPr>
            <a:r>
              <a:rPr lang="en-US" sz="1300" dirty="0">
                <a:solidFill>
                  <a:srgbClr val="FFFFFF"/>
                </a:solidFill>
              </a:rPr>
              <a:t>Slightly better, but the two are close</a:t>
            </a:r>
            <a:endParaRPr lang="en-US" sz="1300" dirty="0"/>
          </a:p>
        </p:txBody>
      </p:sp>
      <p:sp>
        <p:nvSpPr>
          <p:cNvPr id="7" name="Caution card"/>
          <p:cNvSpPr/>
          <p:nvPr/>
        </p:nvSpPr>
        <p:spPr>
          <a:xfrm>
            <a:off x="5943600" y="2880360"/>
            <a:ext cx="2743200" cy="1737360"/>
          </a:xfrm>
          <a:prstGeom prst="roundRect">
            <a:avLst>
              <a:gd name="adj" fmla="val 5263"/>
            </a:avLst>
          </a:prstGeom>
          <a:solidFill>
            <a:schemeClr val="bg2"/>
          </a:solidFill>
          <a:ln w="12700">
            <a:solidFill>
              <a:schemeClr val="bg2"/>
            </a:solidFill>
            <a:prstDash val="solid"/>
          </a:ln>
        </p:spPr>
      </p:sp>
      <p:sp>
        <p:nvSpPr>
          <p:cNvPr id="8" name="Caution text"/>
          <p:cNvSpPr txBox="1"/>
          <p:nvPr/>
        </p:nvSpPr>
        <p:spPr>
          <a:xfrm>
            <a:off x="6080760" y="2971800"/>
            <a:ext cx="2468880" cy="1554480"/>
          </a:xfrm>
          <a:prstGeom prst="rect">
            <a:avLst/>
          </a:prstGeom>
          <a:noFill/>
          <a:ln/>
        </p:spPr>
        <p:txBody>
          <a:bodyPr wrap="square" lIns="0" tIns="0" rIns="0" bIns="0" rtlCol="0" anchor="ctr"/>
          <a:lstStyle/>
          <a:p>
            <a:pPr indent="0" marL="0">
              <a:buNone/>
            </a:pPr>
            <a:r>
              <a:rPr lang="en-US" sz="1400" b="1" dirty="0">
                <a:solidFill>
                  <a:schemeClr val="accent2"/>
                </a:solidFill>
              </a:rPr>
              <a:t>A caution</a:t>
            </a:r>
            <a:endParaRPr lang="en-US" sz="1400" dirty="0"/>
          </a:p>
          <a:p>
            <a:pPr indent="0" marL="0">
              <a:buNone/>
            </a:pPr>
            <a:r>
              <a:rPr lang="en-US" sz="1300" dirty="0">
                <a:solidFill>
                  <a:srgbClr val="142B40"/>
                </a:solidFill>
              </a:rPr>
              <a:t>Guessing 'No' for everyone scores about 73%. The real value is catching 56% of churners.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What drives churn: the C5.0 tree</a:t>
            </a:r>
            <a:endParaRPr lang="en-US" sz="3000" dirty="0"/>
          </a:p>
        </p:txBody>
      </p:sp>
      <p:sp>
        <p:nvSpPr>
          <p:cNvPr id="3" name="Tree how card"/>
          <p:cNvSpPr/>
          <p:nvPr/>
        </p:nvSpPr>
        <p:spPr>
          <a:xfrm>
            <a:off x="457200" y="1188720"/>
            <a:ext cx="8229600" cy="731520"/>
          </a:xfrm>
          <a:prstGeom prst="roundRect">
            <a:avLst>
              <a:gd name="adj" fmla="val 12500"/>
            </a:avLst>
          </a:prstGeom>
          <a:solidFill>
            <a:schemeClr val="accent1"/>
          </a:solidFill>
          <a:ln w="12700">
            <a:solidFill>
              <a:schemeClr val="accent1"/>
            </a:solidFill>
            <a:prstDash val="solid"/>
          </a:ln>
        </p:spPr>
      </p:sp>
      <p:sp>
        <p:nvSpPr>
          <p:cNvPr id="4" name="Tree how text"/>
          <p:cNvSpPr txBox="1"/>
          <p:nvPr/>
        </p:nvSpPr>
        <p:spPr>
          <a:xfrm>
            <a:off x="640080" y="1298448"/>
            <a:ext cx="7863840" cy="512064"/>
          </a:xfrm>
          <a:prstGeom prst="rect">
            <a:avLst/>
          </a:prstGeom>
          <a:noFill/>
          <a:ln/>
        </p:spPr>
        <p:txBody>
          <a:bodyPr wrap="square" lIns="0" tIns="0" rIns="0" bIns="0" rtlCol="0" anchor="t"/>
          <a:lstStyle/>
          <a:p>
            <a:pPr indent="0" marL="0">
              <a:buNone/>
            </a:pPr>
            <a:r>
              <a:rPr lang="en-US" sz="1200" b="1" dirty="0">
                <a:solidFill>
                  <a:srgbClr val="CFE9ED"/>
                </a:solidFill>
              </a:rPr>
              <a:t>HOW IN MODELER</a:t>
            </a:r>
            <a:endParaRPr lang="en-US" sz="1200" dirty="0"/>
          </a:p>
          <a:p>
            <a:pPr indent="0" marL="0">
              <a:spcBef>
                <a:spcPts val="300"/>
              </a:spcBef>
              <a:buNone/>
            </a:pPr>
            <a:r>
              <a:rPr lang="en-US" sz="1400" dirty="0">
                <a:solidFill>
                  <a:srgbClr val="FFFFFF"/>
                </a:solidFill>
              </a:rPr>
              <a:t>Double-click the C5.0 model nugget, open the Viewer tab and read the tree from top to bottom.</a:t>
            </a:r>
            <a:endParaRPr lang="en-US" sz="1200" dirty="0"/>
          </a:p>
        </p:txBody>
      </p:sp>
      <p:graphicFrame>
        <p:nvGraphicFramePr>
          <p:cNvPr id="5" name="Chart 0" descr=""/>
          <p:cNvGraphicFramePr/>
          <p:nvPr/>
        </p:nvGraphicFramePr>
        <p:xfrm>
          <a:off x="457200" y="2011680"/>
          <a:ext cx="5303520" cy="2697480"/>
        </p:xfrm>
        <a:graphic xmlns:a="http://schemas.openxmlformats.org/drawingml/2006/main">
          <a:graphicData uri="http://schemas.openxmlformats.org/drawingml/2006/chart">
            <c:chart xmlns:c="http://schemas.openxmlformats.org/drawingml/2006/chart" r:id="rId1"/>
          </a:graphicData>
        </a:graphic>
      </p:graphicFrame>
      <p:sp>
        <p:nvSpPr>
          <p:cNvPr id="6" name="Top risk card"/>
          <p:cNvSpPr/>
          <p:nvPr/>
        </p:nvSpPr>
        <p:spPr>
          <a:xfrm>
            <a:off x="6035040" y="2011680"/>
            <a:ext cx="2651760" cy="1234440"/>
          </a:xfrm>
          <a:prstGeom prst="roundRect">
            <a:avLst>
              <a:gd name="adj" fmla="val 7407"/>
            </a:avLst>
          </a:prstGeom>
          <a:solidFill>
            <a:srgbClr val="F26B5B"/>
          </a:solidFill>
          <a:ln w="12700">
            <a:solidFill>
              <a:srgbClr val="F26B5B"/>
            </a:solidFill>
            <a:prstDash val="solid"/>
          </a:ln>
        </p:spPr>
      </p:sp>
      <p:sp>
        <p:nvSpPr>
          <p:cNvPr id="7" name="Top risk text"/>
          <p:cNvSpPr txBox="1"/>
          <p:nvPr/>
        </p:nvSpPr>
        <p:spPr>
          <a:xfrm>
            <a:off x="6172200" y="2084832"/>
            <a:ext cx="2377440" cy="10972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71%</a:t>
            </a:r>
            <a:endParaRPr lang="en-US" sz="3400" dirty="0"/>
          </a:p>
          <a:p>
            <a:pPr indent="0" marL="0">
              <a:buNone/>
            </a:pPr>
            <a:r>
              <a:rPr lang="en-US" sz="1300" dirty="0">
                <a:solidFill>
                  <a:srgbClr val="FFFFFF"/>
                </a:solidFill>
              </a:rPr>
              <a:t>Fiber, first 14 months (475 of 665)</a:t>
            </a:r>
            <a:endParaRPr lang="en-US" sz="3400" dirty="0"/>
          </a:p>
        </p:txBody>
      </p:sp>
      <p:sp>
        <p:nvSpPr>
          <p:cNvPr id="8" name="Tree splits card"/>
          <p:cNvSpPr/>
          <p:nvPr/>
        </p:nvSpPr>
        <p:spPr>
          <a:xfrm>
            <a:off x="6035040" y="3429000"/>
            <a:ext cx="2651760" cy="1280160"/>
          </a:xfrm>
          <a:prstGeom prst="roundRect">
            <a:avLst>
              <a:gd name="adj" fmla="val 7143"/>
            </a:avLst>
          </a:prstGeom>
          <a:solidFill>
            <a:schemeClr val="bg2"/>
          </a:solidFill>
          <a:ln w="12700">
            <a:solidFill>
              <a:schemeClr val="bg2"/>
            </a:solidFill>
            <a:prstDash val="solid"/>
          </a:ln>
        </p:spPr>
      </p:sp>
      <p:sp>
        <p:nvSpPr>
          <p:cNvPr id="9" name="Tree splits text"/>
          <p:cNvSpPr txBox="1"/>
          <p:nvPr/>
        </p:nvSpPr>
        <p:spPr>
          <a:xfrm>
            <a:off x="6172200" y="3493008"/>
            <a:ext cx="2377440" cy="1170432"/>
          </a:xfrm>
          <a:prstGeom prst="rect">
            <a:avLst/>
          </a:prstGeom>
          <a:noFill/>
          <a:ln/>
        </p:spPr>
        <p:txBody>
          <a:bodyPr wrap="square" lIns="0" tIns="0" rIns="0" bIns="0" rtlCol="0" anchor="ctr"/>
          <a:lstStyle/>
          <a:p>
            <a:pPr indent="0" marL="0">
              <a:buNone/>
            </a:pPr>
            <a:r>
              <a:rPr lang="en-US" sz="1300" b="1" dirty="0">
                <a:solidFill>
                  <a:srgbClr val="1C7C8C"/>
                </a:solidFill>
              </a:rPr>
              <a:t>Splits used</a:t>
            </a:r>
            <a:endParaRPr lang="en-US" sz="1300" dirty="0"/>
          </a:p>
          <a:p>
            <a:pPr indent="0" marL="0">
              <a:buNone/>
            </a:pPr>
            <a:r>
              <a:rPr lang="en-US" sz="1200" dirty="0">
                <a:solidFill>
                  <a:srgbClr val="142B40"/>
                </a:solidFill>
              </a:rPr>
              <a:t>Contract, internet service, tenure, total charges, online security, tech support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C5.0 tree, upper part</a:t>
            </a:r>
            <a:endParaRPr lang="en-US" sz="3000" dirty="0"/>
          </a:p>
        </p:txBody>
      </p:sp>
      <p:sp>
        <p:nvSpPr>
          <p:cNvPr id="3" name="Screenshot tree1 frame"/>
          <p:cNvSpPr/>
          <p:nvPr/>
        </p:nvSpPr>
        <p:spPr>
          <a:xfrm>
            <a:off x="726805" y="1152144"/>
            <a:ext cx="7690390" cy="3227832"/>
          </a:xfrm>
          <a:prstGeom prst="rect">
            <a:avLst/>
          </a:prstGeom>
          <a:solidFill>
            <a:srgbClr val="FFFFFF"/>
          </a:solidFill>
          <a:ln w="12700">
            <a:solidFill>
              <a:srgbClr val="C9D6E0"/>
            </a:solidFill>
            <a:prstDash val="solid"/>
          </a:ln>
        </p:spPr>
      </p:sp>
      <p:pic>
        <p:nvPicPr>
          <p:cNvPr id="4" name="Screenshot tree1" descr="Screenshot tree1">    </p:cNvPr>
          <p:cNvPicPr>
            <a:picLocks noChangeAspect="1"/>
          </p:cNvPicPr>
          <p:nvPr/>
        </p:nvPicPr>
        <p:blipFill>
          <a:blip r:embed="rId1"/>
          <a:stretch>
            <a:fillRect/>
          </a:stretch>
        </p:blipFill>
        <p:spPr>
          <a:xfrm>
            <a:off x="763381" y="1188720"/>
            <a:ext cx="7617238" cy="3154680"/>
          </a:xfrm>
          <a:prstGeom prst="rect">
            <a:avLst/>
          </a:prstGeom>
        </p:spPr>
      </p:pic>
      <p:sp>
        <p:nvSpPr>
          <p:cNvPr id="5"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Internet service splits first, then tenure for fiber customers and total charges for DSL customers.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tx2"/>
                </a:solidFill>
              </a:rPr>
              <a:t>Screenshot: C5.0 tree, lower branches</a:t>
            </a:r>
            <a:endParaRPr lang="en-US" sz="3000" dirty="0"/>
          </a:p>
        </p:txBody>
      </p:sp>
      <p:sp>
        <p:nvSpPr>
          <p:cNvPr id="3" name="Screenshot tree2 frame"/>
          <p:cNvSpPr/>
          <p:nvPr/>
        </p:nvSpPr>
        <p:spPr>
          <a:xfrm>
            <a:off x="420624" y="1198735"/>
            <a:ext cx="8302752" cy="3134651"/>
          </a:xfrm>
          <a:prstGeom prst="rect">
            <a:avLst/>
          </a:prstGeom>
          <a:solidFill>
            <a:srgbClr val="FFFFFF"/>
          </a:solidFill>
          <a:ln w="12700">
            <a:solidFill>
              <a:srgbClr val="C9D6E0"/>
            </a:solidFill>
            <a:prstDash val="solid"/>
          </a:ln>
        </p:spPr>
      </p:sp>
      <p:pic>
        <p:nvPicPr>
          <p:cNvPr id="4" name="Screenshot tree2" descr="Screenshot tree2">    </p:cNvPr>
          <p:cNvPicPr>
            <a:picLocks noChangeAspect="1"/>
          </p:cNvPicPr>
          <p:nvPr/>
        </p:nvPicPr>
        <p:blipFill>
          <a:blip r:embed="rId1"/>
          <a:stretch>
            <a:fillRect/>
          </a:stretch>
        </p:blipFill>
        <p:spPr>
          <a:xfrm>
            <a:off x="457200" y="1235311"/>
            <a:ext cx="8229600" cy="3061499"/>
          </a:xfrm>
          <a:prstGeom prst="rect">
            <a:avLst/>
          </a:prstGeom>
        </p:spPr>
      </p:pic>
      <p:sp>
        <p:nvSpPr>
          <p:cNvPr id="5" name="Screenshot caption"/>
          <p:cNvSpPr txBox="1"/>
          <p:nvPr/>
        </p:nvSpPr>
        <p:spPr>
          <a:xfrm>
            <a:off x="457200" y="4434840"/>
            <a:ext cx="7680960" cy="320040"/>
          </a:xfrm>
          <a:prstGeom prst="rect">
            <a:avLst/>
          </a:prstGeom>
          <a:noFill/>
          <a:ln/>
        </p:spPr>
        <p:txBody>
          <a:bodyPr wrap="square" lIns="0" tIns="0" rIns="0" bIns="0" rtlCol="0" anchor="t"/>
          <a:lstStyle/>
          <a:p>
            <a:pPr indent="0" marL="0">
              <a:buNone/>
            </a:pPr>
            <a:r>
              <a:rPr lang="en-US" sz="1300" i="1" dirty="0">
                <a:solidFill>
                  <a:schemeClr val="accent5"/>
                </a:solidFill>
              </a:rPr>
              <a:t>Lower branches: Online Security, Tech Support, Paperless Billing and tenure splits.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bg1"/>
                </a:solidFill>
              </a:rPr>
              <a:t>Findings turned into retention actions</a:t>
            </a:r>
            <a:endParaRPr lang="en-US" sz="3000" dirty="0"/>
          </a:p>
        </p:txBody>
      </p:sp>
      <p:sp>
        <p:nvSpPr>
          <p:cNvPr id="3" name="Finding card 1"/>
          <p:cNvSpPr/>
          <p:nvPr/>
        </p:nvSpPr>
        <p:spPr>
          <a:xfrm>
            <a:off x="457200" y="1234440"/>
            <a:ext cx="3931920" cy="713232"/>
          </a:xfrm>
          <a:prstGeom prst="roundRect">
            <a:avLst>
              <a:gd name="adj" fmla="val 12821"/>
            </a:avLst>
          </a:prstGeom>
          <a:solidFill>
            <a:schemeClr val="accent5"/>
          </a:solidFill>
          <a:ln w="12700">
            <a:solidFill>
              <a:schemeClr val="accent5"/>
            </a:solidFill>
            <a:prstDash val="solid"/>
          </a:ln>
        </p:spPr>
      </p:sp>
      <p:sp>
        <p:nvSpPr>
          <p:cNvPr id="4" name="Finding text 1"/>
          <p:cNvSpPr txBox="1"/>
          <p:nvPr/>
        </p:nvSpPr>
        <p:spPr>
          <a:xfrm>
            <a:off x="594360" y="1280160"/>
            <a:ext cx="3657600" cy="640080"/>
          </a:xfrm>
          <a:prstGeom prst="rect">
            <a:avLst/>
          </a:prstGeom>
          <a:noFill/>
          <a:ln/>
        </p:spPr>
        <p:txBody>
          <a:bodyPr wrap="square" lIns="0" tIns="0" rIns="0" bIns="0" rtlCol="0" anchor="ctr"/>
          <a:lstStyle/>
          <a:p>
            <a:pPr indent="0" marL="0">
              <a:buNone/>
            </a:pPr>
            <a:r>
              <a:rPr lang="en-US" sz="1300" dirty="0">
                <a:solidFill>
                  <a:schemeClr val="bg1"/>
                </a:solidFill>
              </a:rPr>
              <a:t>Monthly contracts churn 42.7%, two-year only 2.9%</a:t>
            </a:r>
            <a:endParaRPr lang="en-US" sz="1300" dirty="0"/>
          </a:p>
        </p:txBody>
      </p:sp>
      <p:sp>
        <p:nvSpPr>
          <p:cNvPr id="5" name="Action arrow 1"/>
          <p:cNvSpPr/>
          <p:nvPr/>
        </p:nvSpPr>
        <p:spPr>
          <a:xfrm>
            <a:off x="4434840" y="1600200"/>
            <a:ext cx="365760" cy="0"/>
          </a:xfrm>
          <a:prstGeom prst="line">
            <a:avLst/>
          </a:prstGeom>
          <a:noFill/>
          <a:ln w="31750">
            <a:solidFill>
              <a:srgbClr val="F2B84B"/>
            </a:solidFill>
            <a:prstDash val="solid"/>
            <a:tailEnd type="triangle"/>
          </a:ln>
        </p:spPr>
      </p:sp>
      <p:sp>
        <p:nvSpPr>
          <p:cNvPr id="6" name="Action card 1"/>
          <p:cNvSpPr/>
          <p:nvPr/>
        </p:nvSpPr>
        <p:spPr>
          <a:xfrm>
            <a:off x="4846320" y="1234440"/>
            <a:ext cx="3840480" cy="713232"/>
          </a:xfrm>
          <a:prstGeom prst="roundRect">
            <a:avLst>
              <a:gd name="adj" fmla="val 12821"/>
            </a:avLst>
          </a:prstGeom>
          <a:solidFill>
            <a:schemeClr val="accent2"/>
          </a:solidFill>
          <a:ln w="12700">
            <a:solidFill>
              <a:schemeClr val="accent2"/>
            </a:solidFill>
            <a:prstDash val="solid"/>
          </a:ln>
        </p:spPr>
      </p:sp>
      <p:sp>
        <p:nvSpPr>
          <p:cNvPr id="7" name="Action text 1"/>
          <p:cNvSpPr txBox="1"/>
          <p:nvPr/>
        </p:nvSpPr>
        <p:spPr>
          <a:xfrm>
            <a:off x="4983480" y="1280160"/>
            <a:ext cx="3566160" cy="640080"/>
          </a:xfrm>
          <a:prstGeom prst="rect">
            <a:avLst/>
          </a:prstGeom>
          <a:noFill/>
          <a:ln/>
        </p:spPr>
        <p:txBody>
          <a:bodyPr wrap="square" lIns="0" tIns="0" rIns="0" bIns="0" rtlCol="0" anchor="ctr"/>
          <a:lstStyle/>
          <a:p>
            <a:pPr indent="0" marL="0">
              <a:buNone/>
            </a:pPr>
            <a:r>
              <a:rPr lang="en-US" sz="1300" b="1" dirty="0">
                <a:solidFill>
                  <a:schemeClr val="bg1"/>
                </a:solidFill>
              </a:rPr>
              <a:t>Offer perks and discounts to move customers to 1-2 year plans</a:t>
            </a:r>
            <a:endParaRPr lang="en-US" sz="1300" dirty="0"/>
          </a:p>
        </p:txBody>
      </p:sp>
      <p:sp>
        <p:nvSpPr>
          <p:cNvPr id="8" name="Finding card 2"/>
          <p:cNvSpPr/>
          <p:nvPr/>
        </p:nvSpPr>
        <p:spPr>
          <a:xfrm>
            <a:off x="457200" y="2057400"/>
            <a:ext cx="3931920" cy="713232"/>
          </a:xfrm>
          <a:prstGeom prst="roundRect">
            <a:avLst>
              <a:gd name="adj" fmla="val 12821"/>
            </a:avLst>
          </a:prstGeom>
          <a:solidFill>
            <a:schemeClr val="accent5"/>
          </a:solidFill>
          <a:ln w="12700">
            <a:solidFill>
              <a:schemeClr val="accent5"/>
            </a:solidFill>
            <a:prstDash val="solid"/>
          </a:ln>
        </p:spPr>
      </p:sp>
      <p:sp>
        <p:nvSpPr>
          <p:cNvPr id="9" name="Finding text 2"/>
          <p:cNvSpPr txBox="1"/>
          <p:nvPr/>
        </p:nvSpPr>
        <p:spPr>
          <a:xfrm>
            <a:off x="594360" y="2103120"/>
            <a:ext cx="3657600" cy="640080"/>
          </a:xfrm>
          <a:prstGeom prst="rect">
            <a:avLst/>
          </a:prstGeom>
          <a:noFill/>
          <a:ln/>
        </p:spPr>
        <p:txBody>
          <a:bodyPr wrap="square" lIns="0" tIns="0" rIns="0" bIns="0" rtlCol="0" anchor="ctr"/>
          <a:lstStyle/>
          <a:p>
            <a:pPr indent="0" marL="0">
              <a:buNone/>
            </a:pPr>
            <a:r>
              <a:rPr lang="en-US" sz="1300" dirty="0">
                <a:solidFill>
                  <a:schemeClr val="bg1"/>
                </a:solidFill>
              </a:rPr>
              <a:t>Churners average 18 months of tenure; new fiber users churn 71%</a:t>
            </a:r>
            <a:endParaRPr lang="en-US" sz="1300" dirty="0"/>
          </a:p>
        </p:txBody>
      </p:sp>
      <p:sp>
        <p:nvSpPr>
          <p:cNvPr id="10" name="Action arrow 2"/>
          <p:cNvSpPr/>
          <p:nvPr/>
        </p:nvSpPr>
        <p:spPr>
          <a:xfrm>
            <a:off x="4434840" y="2423160"/>
            <a:ext cx="365760" cy="0"/>
          </a:xfrm>
          <a:prstGeom prst="line">
            <a:avLst/>
          </a:prstGeom>
          <a:noFill/>
          <a:ln w="31750">
            <a:solidFill>
              <a:srgbClr val="F2B84B"/>
            </a:solidFill>
            <a:prstDash val="solid"/>
            <a:tailEnd type="triangle"/>
          </a:ln>
        </p:spPr>
      </p:sp>
      <p:sp>
        <p:nvSpPr>
          <p:cNvPr id="11" name="Action card 2"/>
          <p:cNvSpPr/>
          <p:nvPr/>
        </p:nvSpPr>
        <p:spPr>
          <a:xfrm>
            <a:off x="4846320" y="2057400"/>
            <a:ext cx="3840480" cy="713232"/>
          </a:xfrm>
          <a:prstGeom prst="roundRect">
            <a:avLst>
              <a:gd name="adj" fmla="val 12821"/>
            </a:avLst>
          </a:prstGeom>
          <a:solidFill>
            <a:schemeClr val="accent2"/>
          </a:solidFill>
          <a:ln w="12700">
            <a:solidFill>
              <a:schemeClr val="accent2"/>
            </a:solidFill>
            <a:prstDash val="solid"/>
          </a:ln>
        </p:spPr>
      </p:sp>
      <p:sp>
        <p:nvSpPr>
          <p:cNvPr id="12" name="Action text 2"/>
          <p:cNvSpPr txBox="1"/>
          <p:nvPr/>
        </p:nvSpPr>
        <p:spPr>
          <a:xfrm>
            <a:off x="4983480" y="2103120"/>
            <a:ext cx="3566160" cy="640080"/>
          </a:xfrm>
          <a:prstGeom prst="rect">
            <a:avLst/>
          </a:prstGeom>
          <a:noFill/>
          <a:ln/>
        </p:spPr>
        <p:txBody>
          <a:bodyPr wrap="square" lIns="0" tIns="0" rIns="0" bIns="0" rtlCol="0" anchor="ctr"/>
          <a:lstStyle/>
          <a:p>
            <a:pPr indent="0" marL="0">
              <a:buNone/>
            </a:pPr>
            <a:r>
              <a:rPr lang="en-US" sz="1300" b="1" dirty="0">
                <a:solidFill>
                  <a:schemeClr val="bg1"/>
                </a:solidFill>
              </a:rPr>
              <a:t>Run onboarding and check-ins during the first 15 months</a:t>
            </a:r>
            <a:endParaRPr lang="en-US" sz="1300" dirty="0"/>
          </a:p>
        </p:txBody>
      </p:sp>
      <p:sp>
        <p:nvSpPr>
          <p:cNvPr id="13" name="Finding card 3"/>
          <p:cNvSpPr/>
          <p:nvPr/>
        </p:nvSpPr>
        <p:spPr>
          <a:xfrm>
            <a:off x="457200" y="2880360"/>
            <a:ext cx="3931920" cy="713232"/>
          </a:xfrm>
          <a:prstGeom prst="roundRect">
            <a:avLst>
              <a:gd name="adj" fmla="val 12821"/>
            </a:avLst>
          </a:prstGeom>
          <a:solidFill>
            <a:schemeClr val="accent5"/>
          </a:solidFill>
          <a:ln w="12700">
            <a:solidFill>
              <a:schemeClr val="accent5"/>
            </a:solidFill>
            <a:prstDash val="solid"/>
          </a:ln>
        </p:spPr>
      </p:sp>
      <p:sp>
        <p:nvSpPr>
          <p:cNvPr id="14" name="Finding text 3"/>
          <p:cNvSpPr txBox="1"/>
          <p:nvPr/>
        </p:nvSpPr>
        <p:spPr>
          <a:xfrm>
            <a:off x="594360" y="2926080"/>
            <a:ext cx="3657600" cy="640080"/>
          </a:xfrm>
          <a:prstGeom prst="rect">
            <a:avLst/>
          </a:prstGeom>
          <a:noFill/>
          <a:ln/>
        </p:spPr>
        <p:txBody>
          <a:bodyPr wrap="square" lIns="0" tIns="0" rIns="0" bIns="0" rtlCol="0" anchor="ctr"/>
          <a:lstStyle/>
          <a:p>
            <a:pPr indent="0" marL="0">
              <a:buNone/>
            </a:pPr>
            <a:r>
              <a:rPr lang="en-US" sz="1300" dirty="0">
                <a:solidFill>
                  <a:schemeClr val="bg1"/>
                </a:solidFill>
              </a:rPr>
              <a:t>DSL users without Online Security or Tech Support churn 55-59%</a:t>
            </a:r>
            <a:endParaRPr lang="en-US" sz="1300" dirty="0"/>
          </a:p>
        </p:txBody>
      </p:sp>
      <p:sp>
        <p:nvSpPr>
          <p:cNvPr id="15" name="Action arrow 3"/>
          <p:cNvSpPr/>
          <p:nvPr/>
        </p:nvSpPr>
        <p:spPr>
          <a:xfrm>
            <a:off x="4434840" y="3246120"/>
            <a:ext cx="365760" cy="0"/>
          </a:xfrm>
          <a:prstGeom prst="line">
            <a:avLst/>
          </a:prstGeom>
          <a:noFill/>
          <a:ln w="31750">
            <a:solidFill>
              <a:srgbClr val="F2B84B"/>
            </a:solidFill>
            <a:prstDash val="solid"/>
            <a:tailEnd type="triangle"/>
          </a:ln>
        </p:spPr>
      </p:sp>
      <p:sp>
        <p:nvSpPr>
          <p:cNvPr id="16" name="Action card 3"/>
          <p:cNvSpPr/>
          <p:nvPr/>
        </p:nvSpPr>
        <p:spPr>
          <a:xfrm>
            <a:off x="4846320" y="2880360"/>
            <a:ext cx="3840480" cy="713232"/>
          </a:xfrm>
          <a:prstGeom prst="roundRect">
            <a:avLst>
              <a:gd name="adj" fmla="val 12821"/>
            </a:avLst>
          </a:prstGeom>
          <a:solidFill>
            <a:schemeClr val="accent2"/>
          </a:solidFill>
          <a:ln w="12700">
            <a:solidFill>
              <a:schemeClr val="accent2"/>
            </a:solidFill>
            <a:prstDash val="solid"/>
          </a:ln>
        </p:spPr>
      </p:sp>
      <p:sp>
        <p:nvSpPr>
          <p:cNvPr id="17" name="Action text 3"/>
          <p:cNvSpPr txBox="1"/>
          <p:nvPr/>
        </p:nvSpPr>
        <p:spPr>
          <a:xfrm>
            <a:off x="4983480" y="2926080"/>
            <a:ext cx="3566160" cy="640080"/>
          </a:xfrm>
          <a:prstGeom prst="rect">
            <a:avLst/>
          </a:prstGeom>
          <a:noFill/>
          <a:ln/>
        </p:spPr>
        <p:txBody>
          <a:bodyPr wrap="square" lIns="0" tIns="0" rIns="0" bIns="0" rtlCol="0" anchor="ctr"/>
          <a:lstStyle/>
          <a:p>
            <a:pPr indent="0" marL="0">
              <a:buNone/>
            </a:pPr>
            <a:r>
              <a:rPr lang="en-US" sz="1300" b="1" dirty="0">
                <a:solidFill>
                  <a:schemeClr val="bg1"/>
                </a:solidFill>
              </a:rPr>
              <a:t>Bundle a free trial of security and tech support</a:t>
            </a:r>
            <a:endParaRPr lang="en-US" sz="1300" dirty="0"/>
          </a:p>
        </p:txBody>
      </p:sp>
      <p:sp>
        <p:nvSpPr>
          <p:cNvPr id="18" name="Finding card 4"/>
          <p:cNvSpPr/>
          <p:nvPr/>
        </p:nvSpPr>
        <p:spPr>
          <a:xfrm>
            <a:off x="457200" y="3703320"/>
            <a:ext cx="3931920" cy="713232"/>
          </a:xfrm>
          <a:prstGeom prst="roundRect">
            <a:avLst>
              <a:gd name="adj" fmla="val 12821"/>
            </a:avLst>
          </a:prstGeom>
          <a:solidFill>
            <a:schemeClr val="accent5"/>
          </a:solidFill>
          <a:ln w="12700">
            <a:solidFill>
              <a:schemeClr val="accent5"/>
            </a:solidFill>
            <a:prstDash val="solid"/>
          </a:ln>
        </p:spPr>
      </p:sp>
      <p:sp>
        <p:nvSpPr>
          <p:cNvPr id="19" name="Finding text 4"/>
          <p:cNvSpPr txBox="1"/>
          <p:nvPr/>
        </p:nvSpPr>
        <p:spPr>
          <a:xfrm>
            <a:off x="594360" y="3749040"/>
            <a:ext cx="3657600" cy="640080"/>
          </a:xfrm>
          <a:prstGeom prst="rect">
            <a:avLst/>
          </a:prstGeom>
          <a:noFill/>
          <a:ln/>
        </p:spPr>
        <p:txBody>
          <a:bodyPr wrap="square" lIns="0" tIns="0" rIns="0" bIns="0" rtlCol="0" anchor="ctr"/>
          <a:lstStyle/>
          <a:p>
            <a:pPr indent="0" marL="0">
              <a:buNone/>
            </a:pPr>
            <a:r>
              <a:rPr lang="en-US" sz="1300" dirty="0">
                <a:solidFill>
                  <a:schemeClr val="bg1"/>
                </a:solidFill>
              </a:rPr>
              <a:t>Churners pay about 13 more per month</a:t>
            </a:r>
            <a:endParaRPr lang="en-US" sz="1300" dirty="0"/>
          </a:p>
        </p:txBody>
      </p:sp>
      <p:sp>
        <p:nvSpPr>
          <p:cNvPr id="20" name="Action arrow 4"/>
          <p:cNvSpPr/>
          <p:nvPr/>
        </p:nvSpPr>
        <p:spPr>
          <a:xfrm>
            <a:off x="4434840" y="4069080"/>
            <a:ext cx="365760" cy="0"/>
          </a:xfrm>
          <a:prstGeom prst="line">
            <a:avLst/>
          </a:prstGeom>
          <a:noFill/>
          <a:ln w="31750">
            <a:solidFill>
              <a:srgbClr val="F2B84B"/>
            </a:solidFill>
            <a:prstDash val="solid"/>
            <a:tailEnd type="triangle"/>
          </a:ln>
        </p:spPr>
      </p:sp>
      <p:sp>
        <p:nvSpPr>
          <p:cNvPr id="21" name="Action card 4"/>
          <p:cNvSpPr/>
          <p:nvPr/>
        </p:nvSpPr>
        <p:spPr>
          <a:xfrm>
            <a:off x="4846320" y="3703320"/>
            <a:ext cx="3840480" cy="713232"/>
          </a:xfrm>
          <a:prstGeom prst="roundRect">
            <a:avLst>
              <a:gd name="adj" fmla="val 12821"/>
            </a:avLst>
          </a:prstGeom>
          <a:solidFill>
            <a:schemeClr val="accent2"/>
          </a:solidFill>
          <a:ln w="12700">
            <a:solidFill>
              <a:schemeClr val="accent2"/>
            </a:solidFill>
            <a:prstDash val="solid"/>
          </a:ln>
        </p:spPr>
      </p:sp>
      <p:sp>
        <p:nvSpPr>
          <p:cNvPr id="22" name="Action text 4"/>
          <p:cNvSpPr txBox="1"/>
          <p:nvPr/>
        </p:nvSpPr>
        <p:spPr>
          <a:xfrm>
            <a:off x="4983480" y="3749040"/>
            <a:ext cx="3566160" cy="640080"/>
          </a:xfrm>
          <a:prstGeom prst="rect">
            <a:avLst/>
          </a:prstGeom>
          <a:noFill/>
          <a:ln/>
        </p:spPr>
        <p:txBody>
          <a:bodyPr wrap="square" lIns="0" tIns="0" rIns="0" bIns="0" rtlCol="0" anchor="ctr"/>
          <a:lstStyle/>
          <a:p>
            <a:pPr indent="0" marL="0">
              <a:buNone/>
            </a:pPr>
            <a:r>
              <a:rPr lang="en-US" sz="1300" b="1" dirty="0">
                <a:solidFill>
                  <a:schemeClr val="bg1"/>
                </a:solidFill>
              </a:rPr>
              <a:t>Review fiber pricing and offer loyalty discounts</a:t>
            </a:r>
            <a:endParaRPr lang="en-US" sz="1300" dirty="0"/>
          </a:p>
        </p:txBody>
      </p:sp>
      <p:sp>
        <p:nvSpPr>
          <p:cNvPr id="23" name="Model use note"/>
          <p:cNvSpPr txBox="1"/>
          <p:nvPr/>
        </p:nvSpPr>
        <p:spPr>
          <a:xfrm>
            <a:off x="457200" y="4572000"/>
            <a:ext cx="7680960" cy="274320"/>
          </a:xfrm>
          <a:prstGeom prst="rect">
            <a:avLst/>
          </a:prstGeom>
          <a:noFill/>
          <a:ln/>
        </p:spPr>
        <p:txBody>
          <a:bodyPr wrap="square" lIns="0" tIns="0" rIns="0" bIns="0" rtlCol="0" anchor="t"/>
          <a:lstStyle/>
          <a:p>
            <a:pPr indent="0" marL="0">
              <a:buNone/>
            </a:pPr>
            <a:r>
              <a:rPr lang="en-US" sz="1300" i="1" dirty="0">
                <a:solidFill>
                  <a:schemeClr val="accent3"/>
                </a:solidFill>
              </a:rPr>
              <a:t>Use the model each month to list high-risk customers and contact them first.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000" b="1" dirty="0">
                <a:solidFill>
                  <a:schemeClr val="bg1"/>
                </a:solidFill>
              </a:rPr>
              <a:t>Conclusion and limitations</a:t>
            </a:r>
            <a:endParaRPr lang="en-US" sz="3000" dirty="0"/>
          </a:p>
        </p:txBody>
      </p:sp>
      <p:sp>
        <p:nvSpPr>
          <p:cNvPr id="3" name="Conclusion card"/>
          <p:cNvSpPr/>
          <p:nvPr/>
        </p:nvSpPr>
        <p:spPr>
          <a:xfrm>
            <a:off x="457200" y="1234440"/>
            <a:ext cx="4023360" cy="2926080"/>
          </a:xfrm>
          <a:prstGeom prst="roundRect">
            <a:avLst>
              <a:gd name="adj" fmla="val 3125"/>
            </a:avLst>
          </a:prstGeom>
          <a:solidFill>
            <a:schemeClr val="accent5"/>
          </a:solidFill>
          <a:ln w="12700">
            <a:solidFill>
              <a:schemeClr val="accent5"/>
            </a:solidFill>
            <a:prstDash val="solid"/>
          </a:ln>
        </p:spPr>
      </p:sp>
      <p:sp>
        <p:nvSpPr>
          <p:cNvPr id="4" name="Conclusion text"/>
          <p:cNvSpPr txBox="1"/>
          <p:nvPr/>
        </p:nvSpPr>
        <p:spPr>
          <a:xfrm>
            <a:off x="640080" y="1371600"/>
            <a:ext cx="3657600" cy="265176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rPr>
              <a:t>What we found</a:t>
            </a:r>
            <a:endParaRPr lang="en-US" sz="1600" dirty="0"/>
          </a:p>
          <a:p>
            <a:pPr marL="342900" indent="-342900">
              <a:spcAft>
                <a:spcPts val="400"/>
              </a:spcAft>
              <a:buSzPct val="100000"/>
              <a:buChar char="•"/>
            </a:pPr>
            <a:r>
              <a:rPr lang="en-US" sz="1400" dirty="0">
                <a:solidFill>
                  <a:srgbClr val="FFFFFF"/>
                </a:solidFill>
              </a:rPr>
              <a:t>26.58% of customers churned</a:t>
            </a:r>
            <a:endParaRPr lang="en-US" sz="1600" dirty="0"/>
          </a:p>
          <a:p>
            <a:pPr marL="342900" indent="-342900">
              <a:spcAft>
                <a:spcPts val="400"/>
              </a:spcAft>
              <a:buSzPct val="100000"/>
              <a:buChar char="•"/>
            </a:pPr>
            <a:r>
              <a:rPr lang="en-US" sz="1400" dirty="0">
                <a:solidFill>
                  <a:srgbClr val="FFFFFF"/>
                </a:solidFill>
              </a:rPr>
              <a:t>Contract type is strongly linked to churn (chi-square, p &lt; 0.001)</a:t>
            </a:r>
            <a:endParaRPr lang="en-US" sz="1600" dirty="0"/>
          </a:p>
          <a:p>
            <a:pPr marL="342900" indent="-342900">
              <a:spcAft>
                <a:spcPts val="400"/>
              </a:spcAft>
              <a:buSzPct val="100000"/>
              <a:buChar char="•"/>
            </a:pPr>
            <a:r>
              <a:rPr lang="en-US" sz="1400" dirty="0">
                <a:solidFill>
                  <a:srgbClr val="FFFFFF"/>
                </a:solidFill>
              </a:rPr>
              <a:t>Churners are newer and pay more (T-test)</a:t>
            </a:r>
            <a:endParaRPr lang="en-US" sz="1600" dirty="0"/>
          </a:p>
          <a:p>
            <a:pPr marL="342900" indent="-342900">
              <a:buSzPct val="100000"/>
              <a:buChar char="•"/>
            </a:pPr>
            <a:r>
              <a:rPr lang="en-US" sz="1400" dirty="0">
                <a:solidFill>
                  <a:srgbClr val="FFFFFF"/>
                </a:solidFill>
              </a:rPr>
              <a:t>Logistic Regression: 78.79% test accuracy</a:t>
            </a:r>
            <a:endParaRPr lang="en-US" sz="1600" dirty="0"/>
          </a:p>
        </p:txBody>
      </p:sp>
      <p:sp>
        <p:nvSpPr>
          <p:cNvPr id="5" name="Limitations card"/>
          <p:cNvSpPr/>
          <p:nvPr/>
        </p:nvSpPr>
        <p:spPr>
          <a:xfrm>
            <a:off x="4663440" y="1234440"/>
            <a:ext cx="4023360" cy="2926080"/>
          </a:xfrm>
          <a:prstGeom prst="roundRect">
            <a:avLst>
              <a:gd name="adj" fmla="val 3125"/>
            </a:avLst>
          </a:prstGeom>
          <a:solidFill>
            <a:schemeClr val="accent1"/>
          </a:solidFill>
          <a:ln w="12700">
            <a:solidFill>
              <a:schemeClr val="accent1"/>
            </a:solidFill>
            <a:prstDash val="solid"/>
          </a:ln>
        </p:spPr>
      </p:sp>
      <p:sp>
        <p:nvSpPr>
          <p:cNvPr id="6" name="Limitations text"/>
          <p:cNvSpPr txBox="1"/>
          <p:nvPr/>
        </p:nvSpPr>
        <p:spPr>
          <a:xfrm>
            <a:off x="4846320" y="1371600"/>
            <a:ext cx="3657600" cy="265176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rPr>
              <a:t>Limitations and next steps</a:t>
            </a:r>
            <a:endParaRPr lang="en-US" sz="1600" dirty="0"/>
          </a:p>
          <a:p>
            <a:pPr marL="342900" indent="-342900">
              <a:spcAft>
                <a:spcPts val="400"/>
              </a:spcAft>
              <a:buSzPct val="100000"/>
              <a:buChar char="•"/>
            </a:pPr>
            <a:r>
              <a:rPr lang="en-US" sz="1400" dirty="0">
                <a:solidFill>
                  <a:srgbClr val="FFFFFF"/>
                </a:solidFill>
              </a:rPr>
              <a:t>Only 56% of churners are caught; classes are imbalanced</a:t>
            </a:r>
            <a:endParaRPr lang="en-US" sz="1600" dirty="0"/>
          </a:p>
          <a:p>
            <a:pPr marL="342900" indent="-342900">
              <a:spcAft>
                <a:spcPts val="400"/>
              </a:spcAft>
              <a:buSzPct val="100000"/>
              <a:buChar char="•"/>
            </a:pPr>
            <a:r>
              <a:rPr lang="en-US" sz="1400" dirty="0">
                <a:solidFill>
                  <a:srgbClr val="FFFFFF"/>
                </a:solidFill>
              </a:rPr>
              <a:t>Next: balance the classes and tune the cut-off</a:t>
            </a:r>
            <a:endParaRPr lang="en-US" sz="1600" dirty="0"/>
          </a:p>
          <a:p>
            <a:pPr marL="342900" indent="-342900">
              <a:spcAft>
                <a:spcPts val="400"/>
              </a:spcAft>
              <a:buSzPct val="100000"/>
              <a:buChar char="•"/>
            </a:pPr>
            <a:r>
              <a:rPr lang="en-US" sz="1400" dirty="0">
                <a:solidFill>
                  <a:srgbClr val="FFFFFF"/>
                </a:solidFill>
              </a:rPr>
              <a:t>Link to the findings is association, not proof of cause</a:t>
            </a:r>
            <a:endParaRPr lang="en-US" sz="1600" dirty="0"/>
          </a:p>
          <a:p>
            <a:pPr marL="342900" indent="-342900">
              <a:buSzPct val="100000"/>
              <a:buChar char="•"/>
            </a:pPr>
            <a:r>
              <a:rPr lang="en-US" sz="1400" dirty="0">
                <a:solidFill>
                  <a:srgbClr val="FFFFFF"/>
                </a:solidFill>
              </a:rPr>
              <a:t>Single public dataset from one telecom company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Churn Project">
  <a:themeElements>
    <a:clrScheme name="Churn Project">
      <a:dk1>
        <a:srgbClr val="142B40"/>
      </a:dk1>
      <a:lt1>
        <a:srgbClr val="FFFFFF"/>
      </a:lt1>
      <a:dk2>
        <a:srgbClr val="0F2A43"/>
      </a:dk2>
      <a:lt2>
        <a:srgbClr val="EEF3F7"/>
      </a:lt2>
      <a:accent1>
        <a:srgbClr val="1C7C8C"/>
      </a:accent1>
      <a:accent2>
        <a:srgbClr val="F26B5B"/>
      </a:accent2>
      <a:accent3>
        <a:srgbClr val="7FB7BE"/>
      </a:accent3>
      <a:accent4>
        <a:srgbClr val="F2B84B"/>
      </a:accent4>
      <a:accent5>
        <a:srgbClr val="5B7C99"/>
      </a:accent5>
      <a:accent6>
        <a:srgbClr val="A7BEAE"/>
      </a:accent6>
      <a:hlink>
        <a:srgbClr val="1C7C8C"/>
      </a:hlink>
      <a:folHlink>
        <a:srgbClr val="5B7C99"/>
      </a:folHlink>
    </a:clrScheme>
    <a:fontScheme name="Churn Proj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and Retention Analysis</dc:title>
  <dc:subject>PptxGenJS Presentation</dc:subject>
  <dc:creator>PptxGenJS</dc:creator>
  <cp:lastModifiedBy>PptxGenJS</cp:lastModifiedBy>
  <cp:revision>1</cp:revision>
  <dcterms:created xsi:type="dcterms:W3CDTF">2026-10-04T11:43:04Z</dcterms:created>
  <dcterms:modified xsi:type="dcterms:W3CDTF">2026-10-04T11:43:04Z</dcterms:modified>
</cp:coreProperties>
</file>